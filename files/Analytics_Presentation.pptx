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7" r:id="rId31"/>
    <p:sldId id="288" r:id="rId32"/>
    <p:sldId id="285" r:id="rId33"/>
    <p:sldId id="286" r:id="rId34"/>
    <p:sldId id="289" r:id="rId35"/>
    <p:sldId id="292" r:id="rId36"/>
    <p:sldId id="291" r:id="rId37"/>
    <p:sldId id="293" r:id="rId38"/>
    <p:sldId id="294" r:id="rId39"/>
    <p:sldId id="295" r:id="rId40"/>
    <p:sldId id="296" r:id="rId41"/>
    <p:sldId id="297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8" r:id="rId51"/>
    <p:sldId id="307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B33F8-6A9D-4B56-A0CF-2F9750210C63}" type="datetimeFigureOut">
              <a:rPr lang="en-US" smtClean="0"/>
              <a:t>5/27/2020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681E6F-F9B9-42B1-9F69-7A52E174E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61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dataset.</a:t>
            </a:r>
          </a:p>
          <a:p>
            <a:endParaRPr lang="en-US" dirty="0"/>
          </a:p>
          <a:p>
            <a:r>
              <a:rPr lang="en-US" dirty="0"/>
              <a:t>Mention disaggregation.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81E6F-F9B9-42B1-9F69-7A52E174E2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34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Analytics Pane.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81E6F-F9B9-42B1-9F69-7A52E174E2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88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Drag and drop functionality. Right click to edit. Drag off of viz to remove.</a:t>
            </a:r>
          </a:p>
          <a:p>
            <a:endParaRPr lang="en-US" dirty="0"/>
          </a:p>
          <a:p>
            <a:r>
              <a:rPr lang="en-US" dirty="0"/>
              <a:t>One measure/dimension or many.</a:t>
            </a:r>
          </a:p>
          <a:p>
            <a:endParaRPr lang="en-US" dirty="0"/>
          </a:p>
          <a:p>
            <a:r>
              <a:rPr lang="en-US" dirty="0"/>
              <a:t>Set up for instant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81E6F-F9B9-42B1-9F69-7A52E174E2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28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grayed out lines and update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81E6F-F9B9-42B1-9F69-7A52E174E2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12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“So let’s go ahead and make some selections”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81E6F-F9B9-42B1-9F69-7A52E174E2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111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this is what is going on behind the scenes in a bullet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81E6F-F9B9-42B1-9F69-7A52E174E24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39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small p-value indicates that we are unlikely to observe such a strong relationship between variables by chance in the absence of any such actual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81E6F-F9B9-42B1-9F69-7A52E174E24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12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5/27/2020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5/27/2020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5/27/2020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5/27/2020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5/27/2020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5/27/2020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5/27/2020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5/27/2020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5/27/2020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DA95C-561D-43CC-90CA-06615B2EC3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Analytics in Tableau</a:t>
            </a:r>
          </a:p>
        </p:txBody>
      </p:sp>
    </p:spTree>
    <p:extLst>
      <p:ext uri="{BB962C8B-B14F-4D97-AF65-F5344CB8AC3E}">
        <p14:creationId xmlns:p14="http://schemas.microsoft.com/office/powerpoint/2010/main" val="3220179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96567" y="1308100"/>
            <a:ext cx="10296694" cy="529748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The analytics pane</a:t>
            </a:r>
          </a:p>
        </p:txBody>
      </p:sp>
    </p:spTree>
    <p:extLst>
      <p:ext uri="{BB962C8B-B14F-4D97-AF65-F5344CB8AC3E}">
        <p14:creationId xmlns:p14="http://schemas.microsoft.com/office/powerpoint/2010/main" val="2714053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96567" y="1308100"/>
            <a:ext cx="10296694" cy="5297487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The analytics pane</a:t>
            </a:r>
          </a:p>
        </p:txBody>
      </p:sp>
    </p:spTree>
    <p:extLst>
      <p:ext uri="{BB962C8B-B14F-4D97-AF65-F5344CB8AC3E}">
        <p14:creationId xmlns:p14="http://schemas.microsoft.com/office/powerpoint/2010/main" val="373584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The analytics pane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CFA48B-89E1-4856-9049-EEBE370F2F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112490" y="1331227"/>
            <a:ext cx="2690067" cy="5048897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3AFC06-859A-4603-8097-12E87D646E40}"/>
              </a:ext>
            </a:extLst>
          </p:cNvPr>
          <p:cNvSpPr txBox="1"/>
          <p:nvPr/>
        </p:nvSpPr>
        <p:spPr>
          <a:xfrm>
            <a:off x="1031846" y="1392572"/>
            <a:ext cx="58135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Summarize</a:t>
            </a:r>
            <a:r>
              <a:rPr lang="en-US" dirty="0"/>
              <a:t> options within the Analytics Pane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Constant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Confidence Intervals optional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Median (Line)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Quartiles optional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Confidence Intervals optional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Reference 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Generalization of previous line options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Reference Band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Distribution Band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Box 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We will return to </a:t>
            </a:r>
            <a:r>
              <a:rPr lang="en-US" i="1" dirty="0"/>
              <a:t>Trend Line </a:t>
            </a:r>
            <a:r>
              <a:rPr lang="en-US" dirty="0"/>
              <a:t>and</a:t>
            </a:r>
            <a:r>
              <a:rPr lang="en-US" i="1" dirty="0"/>
              <a:t> Forecast</a:t>
            </a:r>
            <a:r>
              <a:rPr lang="en-US" dirty="0"/>
              <a:t> options.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68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616248" y="1308100"/>
            <a:ext cx="7057332" cy="529748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The analytics pane</a:t>
            </a:r>
          </a:p>
        </p:txBody>
      </p:sp>
    </p:spTree>
    <p:extLst>
      <p:ext uri="{BB962C8B-B14F-4D97-AF65-F5344CB8AC3E}">
        <p14:creationId xmlns:p14="http://schemas.microsoft.com/office/powerpoint/2010/main" val="2222830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604307" y="1308100"/>
            <a:ext cx="7081214" cy="529748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The analytics pane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1710FE-BA91-4E27-A7CB-4A3BBF2A183F}"/>
              </a:ext>
            </a:extLst>
          </p:cNvPr>
          <p:cNvSpPr txBox="1"/>
          <p:nvPr/>
        </p:nvSpPr>
        <p:spPr>
          <a:xfrm rot="20273807">
            <a:off x="402672" y="1853967"/>
            <a:ext cx="2013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Instant Analytics!!!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90B126-4B98-4DBE-A5B4-F949EA64C468}"/>
              </a:ext>
            </a:extLst>
          </p:cNvPr>
          <p:cNvSpPr txBox="1"/>
          <p:nvPr/>
        </p:nvSpPr>
        <p:spPr>
          <a:xfrm rot="20189487">
            <a:off x="555072" y="3986171"/>
            <a:ext cx="2013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Aaaaahhhhh</a:t>
            </a:r>
            <a:r>
              <a:rPr lang="en-US" b="1" i="1" dirty="0"/>
              <a:t>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38F3B5-FCCD-4D48-BA25-94273DCA4002}"/>
              </a:ext>
            </a:extLst>
          </p:cNvPr>
          <p:cNvSpPr txBox="1"/>
          <p:nvPr/>
        </p:nvSpPr>
        <p:spPr>
          <a:xfrm rot="1726904">
            <a:off x="10044420" y="2597792"/>
            <a:ext cx="2013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Ooooohhh</a:t>
            </a:r>
            <a:r>
              <a:rPr lang="en-US" b="1" i="1" dirty="0"/>
              <a:t>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83CB9-60BE-4EF8-AE79-79F3004A5060}"/>
              </a:ext>
            </a:extLst>
          </p:cNvPr>
          <p:cNvSpPr txBox="1"/>
          <p:nvPr/>
        </p:nvSpPr>
        <p:spPr>
          <a:xfrm rot="1823688">
            <a:off x="10031808" y="4189648"/>
            <a:ext cx="1220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Wowzerrs</a:t>
            </a:r>
            <a:r>
              <a:rPr lang="en-US" b="1" i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018335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99436" y="1308885"/>
            <a:ext cx="3966993" cy="529748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888D5-07AE-470F-9BFC-186DCB68773C}"/>
              </a:ext>
            </a:extLst>
          </p:cNvPr>
          <p:cNvSpPr txBox="1"/>
          <p:nvPr/>
        </p:nvSpPr>
        <p:spPr>
          <a:xfrm>
            <a:off x="5780021" y="1602297"/>
            <a:ext cx="59561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Options within the </a:t>
            </a:r>
            <a:r>
              <a:rPr lang="en-US" i="1" dirty="0"/>
              <a:t>Reference Line </a:t>
            </a:r>
            <a:r>
              <a:rPr lang="en-US" dirty="0"/>
              <a:t>menu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 of object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Distribution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Box 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Max, Min, Average, Median, Constant (parameter),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Value, Computation, or Custom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Tooltip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Automatic or Custom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 Option (only for statistical value selections)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Formatting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Recalculation checkbox (</a:t>
            </a:r>
            <a:r>
              <a:rPr lang="en-US" i="1" dirty="0"/>
              <a:t>Instant Analytics!)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022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99436" y="1308885"/>
            <a:ext cx="3966993" cy="529748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888D5-07AE-470F-9BFC-186DCB68773C}"/>
              </a:ext>
            </a:extLst>
          </p:cNvPr>
          <p:cNvSpPr txBox="1"/>
          <p:nvPr/>
        </p:nvSpPr>
        <p:spPr>
          <a:xfrm>
            <a:off x="5780021" y="1602297"/>
            <a:ext cx="59561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Options within the </a:t>
            </a:r>
            <a:r>
              <a:rPr lang="en-US" i="1" dirty="0"/>
              <a:t>Reference Line </a:t>
            </a:r>
            <a:r>
              <a:rPr lang="en-US" dirty="0"/>
              <a:t>menu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 of object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Distribution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Box 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Scope (</a:t>
            </a:r>
            <a:r>
              <a:rPr lang="en-US" dirty="0">
                <a:solidFill>
                  <a:srgbClr val="FF0000"/>
                </a:solidFill>
              </a:rPr>
              <a:t>Table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Max, Min, </a:t>
            </a:r>
            <a:r>
              <a:rPr lang="en-US" dirty="0">
                <a:solidFill>
                  <a:srgbClr val="FF0000"/>
                </a:solidFill>
              </a:rPr>
              <a:t>Average</a:t>
            </a:r>
            <a:r>
              <a:rPr lang="en-US" dirty="0"/>
              <a:t>, Median, Constant (parameter),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Value, </a:t>
            </a:r>
            <a:r>
              <a:rPr lang="en-US" dirty="0">
                <a:solidFill>
                  <a:srgbClr val="FF0000"/>
                </a:solidFill>
              </a:rPr>
              <a:t>Computation</a:t>
            </a:r>
            <a:r>
              <a:rPr lang="en-US" dirty="0"/>
              <a:t>, or Custom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Tooltip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Automatic</a:t>
            </a:r>
            <a:r>
              <a:rPr lang="en-US" dirty="0"/>
              <a:t> or Custom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CI Option </a:t>
            </a:r>
            <a:r>
              <a:rPr lang="en-US" dirty="0"/>
              <a:t>(only for statistical value selections)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Formatting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Recalculation checkbox (</a:t>
            </a:r>
            <a:r>
              <a:rPr lang="en-US" i="1" dirty="0">
                <a:solidFill>
                  <a:srgbClr val="FF0000"/>
                </a:solidFill>
              </a:rPr>
              <a:t>Instant Analytics</a:t>
            </a:r>
            <a:r>
              <a:rPr lang="en-US" i="1" dirty="0"/>
              <a:t>!)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721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46989" y="1308100"/>
            <a:ext cx="5395849" cy="529748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 lines</a:t>
            </a:r>
          </a:p>
        </p:txBody>
      </p:sp>
    </p:spTree>
    <p:extLst>
      <p:ext uri="{BB962C8B-B14F-4D97-AF65-F5344CB8AC3E}">
        <p14:creationId xmlns:p14="http://schemas.microsoft.com/office/powerpoint/2010/main" val="2307252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01492" y="1308885"/>
            <a:ext cx="3962881" cy="529748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888D5-07AE-470F-9BFC-186DCB68773C}"/>
              </a:ext>
            </a:extLst>
          </p:cNvPr>
          <p:cNvSpPr txBox="1"/>
          <p:nvPr/>
        </p:nvSpPr>
        <p:spPr>
          <a:xfrm>
            <a:off x="5780021" y="1602297"/>
            <a:ext cx="59561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Options within the </a:t>
            </a:r>
            <a:r>
              <a:rPr lang="en-US" i="1" dirty="0"/>
              <a:t>Reference </a:t>
            </a:r>
            <a:r>
              <a:rPr lang="en-US" i="1" dirty="0">
                <a:solidFill>
                  <a:srgbClr val="FF0000"/>
                </a:solidFill>
              </a:rPr>
              <a:t>Band</a:t>
            </a:r>
            <a:r>
              <a:rPr lang="en-US" i="1" dirty="0"/>
              <a:t> </a:t>
            </a:r>
            <a:r>
              <a:rPr lang="en-US" dirty="0"/>
              <a:t>menu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 of object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Band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Distribution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Box 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Scope (Table)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Max, </a:t>
            </a:r>
            <a:r>
              <a:rPr lang="en-US" dirty="0">
                <a:solidFill>
                  <a:srgbClr val="FF0000"/>
                </a:solidFill>
              </a:rPr>
              <a:t>Min, Average</a:t>
            </a:r>
            <a:r>
              <a:rPr lang="en-US" dirty="0"/>
              <a:t>, Median, Constant (parameter),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Value, Computation, or Custom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Tooltip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Automatic or Custom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CI Option (only for statistical value selections)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Formatting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Recalculation checkbox (</a:t>
            </a:r>
            <a:r>
              <a:rPr lang="en-US" i="1" dirty="0"/>
              <a:t>Instant Analytics!)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FCB9F8-3D87-43D3-A22B-0CFC038388B1}"/>
              </a:ext>
            </a:extLst>
          </p:cNvPr>
          <p:cNvSpPr txBox="1"/>
          <p:nvPr/>
        </p:nvSpPr>
        <p:spPr>
          <a:xfrm rot="19995375">
            <a:off x="94813" y="799713"/>
            <a:ext cx="2013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Contextual!!!</a:t>
            </a:r>
          </a:p>
        </p:txBody>
      </p:sp>
    </p:spTree>
    <p:extLst>
      <p:ext uri="{BB962C8B-B14F-4D97-AF65-F5344CB8AC3E}">
        <p14:creationId xmlns:p14="http://schemas.microsoft.com/office/powerpoint/2010/main" val="3726332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573763" y="1308100"/>
            <a:ext cx="5142301" cy="529748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 lines</a:t>
            </a:r>
          </a:p>
        </p:txBody>
      </p:sp>
    </p:spTree>
    <p:extLst>
      <p:ext uri="{BB962C8B-B14F-4D97-AF65-F5344CB8AC3E}">
        <p14:creationId xmlns:p14="http://schemas.microsoft.com/office/powerpoint/2010/main" val="1450977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01492" y="1311631"/>
            <a:ext cx="3962881" cy="5291995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888D5-07AE-470F-9BFC-186DCB68773C}"/>
              </a:ext>
            </a:extLst>
          </p:cNvPr>
          <p:cNvSpPr txBox="1"/>
          <p:nvPr/>
        </p:nvSpPr>
        <p:spPr>
          <a:xfrm>
            <a:off x="5780021" y="1602297"/>
            <a:ext cx="595617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Options within the </a:t>
            </a:r>
            <a:r>
              <a:rPr lang="en-US" i="1" dirty="0"/>
              <a:t>Reference </a:t>
            </a:r>
            <a:r>
              <a:rPr lang="en-US" i="1" dirty="0">
                <a:solidFill>
                  <a:srgbClr val="FF0000"/>
                </a:solidFill>
              </a:rPr>
              <a:t>Distribution</a:t>
            </a:r>
            <a:r>
              <a:rPr lang="en-US" i="1" dirty="0"/>
              <a:t> </a:t>
            </a:r>
            <a:r>
              <a:rPr lang="en-US" dirty="0"/>
              <a:t>menu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 of object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Distribution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Box 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Scope (</a:t>
            </a:r>
            <a:r>
              <a:rPr lang="en-US" dirty="0">
                <a:solidFill>
                  <a:srgbClr val="FF0000"/>
                </a:solidFill>
              </a:rPr>
              <a:t>Table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Max, Min, Average, Median, Constant (parameter),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percent of Average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Value, Computation, or Custom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Tooltip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Automatic or Custom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CI Option (only for statistical value selections)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Formatting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Recalculation checkbox (</a:t>
            </a:r>
            <a:r>
              <a:rPr lang="en-US" i="1" dirty="0">
                <a:solidFill>
                  <a:srgbClr val="FF0000"/>
                </a:solidFill>
              </a:rPr>
              <a:t>Instant Analytics!</a:t>
            </a:r>
            <a:r>
              <a:rPr lang="en-US" i="1" dirty="0"/>
              <a:t>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FCB9F8-3D87-43D3-A22B-0CFC038388B1}"/>
              </a:ext>
            </a:extLst>
          </p:cNvPr>
          <p:cNvSpPr txBox="1"/>
          <p:nvPr/>
        </p:nvSpPr>
        <p:spPr>
          <a:xfrm rot="19995375">
            <a:off x="94813" y="799713"/>
            <a:ext cx="2013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Contextual!!!</a:t>
            </a:r>
          </a:p>
        </p:txBody>
      </p:sp>
    </p:spTree>
    <p:extLst>
      <p:ext uri="{BB962C8B-B14F-4D97-AF65-F5344CB8AC3E}">
        <p14:creationId xmlns:p14="http://schemas.microsoft.com/office/powerpoint/2010/main" val="3882675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01492" y="1356228"/>
            <a:ext cx="3962881" cy="52028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888D5-07AE-470F-9BFC-186DCB68773C}"/>
              </a:ext>
            </a:extLst>
          </p:cNvPr>
          <p:cNvSpPr txBox="1"/>
          <p:nvPr/>
        </p:nvSpPr>
        <p:spPr>
          <a:xfrm>
            <a:off x="5780021" y="1602297"/>
            <a:ext cx="595617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Options within the </a:t>
            </a:r>
            <a:r>
              <a:rPr lang="en-US" i="1" dirty="0"/>
              <a:t>Reference </a:t>
            </a:r>
            <a:r>
              <a:rPr lang="en-US" i="1" dirty="0">
                <a:solidFill>
                  <a:srgbClr val="FF0000"/>
                </a:solidFill>
              </a:rPr>
              <a:t>Distribution</a:t>
            </a:r>
            <a:r>
              <a:rPr lang="en-US" i="1" dirty="0"/>
              <a:t> </a:t>
            </a:r>
            <a:r>
              <a:rPr lang="en-US" dirty="0"/>
              <a:t>menu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 of object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Distribution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Box 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Scope (</a:t>
            </a:r>
            <a:r>
              <a:rPr lang="en-US" dirty="0">
                <a:solidFill>
                  <a:srgbClr val="FF0000"/>
                </a:solidFill>
              </a:rPr>
              <a:t>Table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Max, Min, Average, Median, Constant (parameter),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percent of Average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Value, Computation, or Custom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Tooltip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Automatic or Custom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CI Option (only for statistical value selections)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Formatting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Recalculation checkbox (</a:t>
            </a:r>
            <a:r>
              <a:rPr lang="en-US" i="1" dirty="0">
                <a:solidFill>
                  <a:srgbClr val="FF0000"/>
                </a:solidFill>
              </a:rPr>
              <a:t>Instant Analytics!</a:t>
            </a:r>
            <a:r>
              <a:rPr lang="en-US" i="1" dirty="0"/>
              <a:t>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FCB9F8-3D87-43D3-A22B-0CFC038388B1}"/>
              </a:ext>
            </a:extLst>
          </p:cNvPr>
          <p:cNvSpPr txBox="1"/>
          <p:nvPr/>
        </p:nvSpPr>
        <p:spPr>
          <a:xfrm rot="19995375">
            <a:off x="94813" y="799713"/>
            <a:ext cx="2013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Contextual!!!</a:t>
            </a:r>
          </a:p>
        </p:txBody>
      </p:sp>
    </p:spTree>
    <p:extLst>
      <p:ext uri="{BB962C8B-B14F-4D97-AF65-F5344CB8AC3E}">
        <p14:creationId xmlns:p14="http://schemas.microsoft.com/office/powerpoint/2010/main" val="4015054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573763" y="1399629"/>
            <a:ext cx="5142301" cy="511443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 lines</a:t>
            </a:r>
          </a:p>
        </p:txBody>
      </p:sp>
    </p:spTree>
    <p:extLst>
      <p:ext uri="{BB962C8B-B14F-4D97-AF65-F5344CB8AC3E}">
        <p14:creationId xmlns:p14="http://schemas.microsoft.com/office/powerpoint/2010/main" val="2496531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22918" y="1260446"/>
            <a:ext cx="10546161" cy="433710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if we want the </a:t>
            </a:r>
            <a:r>
              <a:rPr lang="en-US" b="1" i="1" dirty="0"/>
              <a:t>Average</a:t>
            </a:r>
            <a:r>
              <a:rPr lang="en-US" b="1" dirty="0"/>
              <a:t> to be calculated for each pane?</a:t>
            </a:r>
          </a:p>
        </p:txBody>
      </p:sp>
    </p:spTree>
    <p:extLst>
      <p:ext uri="{BB962C8B-B14F-4D97-AF65-F5344CB8AC3E}">
        <p14:creationId xmlns:p14="http://schemas.microsoft.com/office/powerpoint/2010/main" val="180140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77078" y="1260446"/>
            <a:ext cx="3237840" cy="433710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if we want the </a:t>
            </a:r>
            <a:r>
              <a:rPr lang="en-US" b="1" i="1" dirty="0"/>
              <a:t>Average</a:t>
            </a:r>
            <a:r>
              <a:rPr lang="en-US" b="1" dirty="0"/>
              <a:t> to be calculated for each pane?</a:t>
            </a:r>
          </a:p>
        </p:txBody>
      </p:sp>
    </p:spTree>
    <p:extLst>
      <p:ext uri="{BB962C8B-B14F-4D97-AF65-F5344CB8AC3E}">
        <p14:creationId xmlns:p14="http://schemas.microsoft.com/office/powerpoint/2010/main" val="1543277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22918" y="1335758"/>
            <a:ext cx="10546161" cy="4186484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if we want the </a:t>
            </a:r>
            <a:r>
              <a:rPr lang="en-US" b="1" i="1" dirty="0"/>
              <a:t>Average</a:t>
            </a:r>
            <a:r>
              <a:rPr lang="en-US" b="1" dirty="0"/>
              <a:t> to be calculated for each pane?</a:t>
            </a:r>
          </a:p>
        </p:txBody>
      </p:sp>
    </p:spTree>
    <p:extLst>
      <p:ext uri="{BB962C8B-B14F-4D97-AF65-F5344CB8AC3E}">
        <p14:creationId xmlns:p14="http://schemas.microsoft.com/office/powerpoint/2010/main" val="2634335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246440" y="1335758"/>
            <a:ext cx="7699116" cy="4186484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Is there a relationship between highway and city mileage?</a:t>
            </a:r>
          </a:p>
        </p:txBody>
      </p:sp>
    </p:spTree>
    <p:extLst>
      <p:ext uri="{BB962C8B-B14F-4D97-AF65-F5344CB8AC3E}">
        <p14:creationId xmlns:p14="http://schemas.microsoft.com/office/powerpoint/2010/main" val="1073031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53422" y="1073264"/>
            <a:ext cx="10085155" cy="4711471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Is there a relationship between highway and city mileage?</a:t>
            </a:r>
          </a:p>
        </p:txBody>
      </p:sp>
    </p:spTree>
    <p:extLst>
      <p:ext uri="{BB962C8B-B14F-4D97-AF65-F5344CB8AC3E}">
        <p14:creationId xmlns:p14="http://schemas.microsoft.com/office/powerpoint/2010/main" val="2976731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706204" y="1143613"/>
            <a:ext cx="4779589" cy="466938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Is there a relationship between highway and city mileage?</a:t>
            </a:r>
          </a:p>
        </p:txBody>
      </p:sp>
    </p:spTree>
    <p:extLst>
      <p:ext uri="{BB962C8B-B14F-4D97-AF65-F5344CB8AC3E}">
        <p14:creationId xmlns:p14="http://schemas.microsoft.com/office/powerpoint/2010/main" val="854197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279668" y="1143613"/>
            <a:ext cx="3632661" cy="466938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Is there a relationship between highway and city mileage?</a:t>
            </a:r>
          </a:p>
        </p:txBody>
      </p:sp>
    </p:spTree>
    <p:extLst>
      <p:ext uri="{BB962C8B-B14F-4D97-AF65-F5344CB8AC3E}">
        <p14:creationId xmlns:p14="http://schemas.microsoft.com/office/powerpoint/2010/main" val="427448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898468" y="1143613"/>
            <a:ext cx="4395061" cy="466938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Is there a relationship between highway and city mileage?</a:t>
            </a:r>
          </a:p>
        </p:txBody>
      </p:sp>
    </p:spTree>
    <p:extLst>
      <p:ext uri="{BB962C8B-B14F-4D97-AF65-F5344CB8AC3E}">
        <p14:creationId xmlns:p14="http://schemas.microsoft.com/office/powerpoint/2010/main" val="557430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70894" y="1459633"/>
            <a:ext cx="8450211" cy="4697885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</p:spTree>
    <p:extLst>
      <p:ext uri="{BB962C8B-B14F-4D97-AF65-F5344CB8AC3E}">
        <p14:creationId xmlns:p14="http://schemas.microsoft.com/office/powerpoint/2010/main" val="3254416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898466" y="1999560"/>
            <a:ext cx="4395061" cy="466938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5" y="1292971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How good does this model fit the data?</a:t>
            </a:r>
          </a:p>
        </p:txBody>
      </p:sp>
    </p:spTree>
    <p:extLst>
      <p:ext uri="{BB962C8B-B14F-4D97-AF65-F5344CB8AC3E}">
        <p14:creationId xmlns:p14="http://schemas.microsoft.com/office/powerpoint/2010/main" val="1977372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897405" y="1823270"/>
            <a:ext cx="6397180" cy="4783103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5" y="1292971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How good does this model fit the data?</a:t>
            </a:r>
          </a:p>
        </p:txBody>
      </p:sp>
    </p:spTree>
    <p:extLst>
      <p:ext uri="{BB962C8B-B14F-4D97-AF65-F5344CB8AC3E}">
        <p14:creationId xmlns:p14="http://schemas.microsoft.com/office/powerpoint/2010/main" val="26029614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326830" y="1823270"/>
            <a:ext cx="5538329" cy="4783103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5" y="1292971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How good does this model fit the data?</a:t>
            </a:r>
          </a:p>
        </p:txBody>
      </p:sp>
    </p:spTree>
    <p:extLst>
      <p:ext uri="{BB962C8B-B14F-4D97-AF65-F5344CB8AC3E}">
        <p14:creationId xmlns:p14="http://schemas.microsoft.com/office/powerpoint/2010/main" val="29082740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038123" y="1999560"/>
            <a:ext cx="8115753" cy="4166481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5" y="1292971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How good does this model fit the data?</a:t>
            </a:r>
          </a:p>
        </p:txBody>
      </p:sp>
    </p:spTree>
    <p:extLst>
      <p:ext uri="{BB962C8B-B14F-4D97-AF65-F5344CB8AC3E}">
        <p14:creationId xmlns:p14="http://schemas.microsoft.com/office/powerpoint/2010/main" val="2786669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03457" y="1122882"/>
            <a:ext cx="8785083" cy="4710841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Is there a relationship between highway mileage and CO</a:t>
            </a:r>
            <a:r>
              <a:rPr lang="en-US" b="1" baseline="-25000" dirty="0"/>
              <a:t>2</a:t>
            </a:r>
            <a:r>
              <a:rPr lang="en-US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56746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399840" y="1122882"/>
            <a:ext cx="5392317" cy="4710841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Is there a relationship between highway mileage and CO</a:t>
            </a:r>
            <a:r>
              <a:rPr lang="en-US" b="1" baseline="-25000" dirty="0"/>
              <a:t>2</a:t>
            </a:r>
            <a:r>
              <a:rPr lang="en-US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42765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399840" y="1122882"/>
            <a:ext cx="5392317" cy="4710841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But is this the </a:t>
            </a:r>
            <a:r>
              <a:rPr lang="en-US" b="1" i="1" dirty="0"/>
              <a:t>best </a:t>
            </a:r>
            <a:r>
              <a:rPr lang="en-US" b="1" dirty="0"/>
              <a:t>model?</a:t>
            </a:r>
          </a:p>
        </p:txBody>
      </p:sp>
    </p:spTree>
    <p:extLst>
      <p:ext uri="{BB962C8B-B14F-4D97-AF65-F5344CB8AC3E}">
        <p14:creationId xmlns:p14="http://schemas.microsoft.com/office/powerpoint/2010/main" val="4166822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399840" y="1122882"/>
            <a:ext cx="5392317" cy="4710841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What do the residuals tell us about model fit?</a:t>
            </a:r>
          </a:p>
        </p:txBody>
      </p:sp>
    </p:spTree>
    <p:extLst>
      <p:ext uri="{BB962C8B-B14F-4D97-AF65-F5344CB8AC3E}">
        <p14:creationId xmlns:p14="http://schemas.microsoft.com/office/powerpoint/2010/main" val="18236833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124605" y="1122882"/>
            <a:ext cx="5942787" cy="4710841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What do the residuals tell us about model fit?</a:t>
            </a:r>
          </a:p>
        </p:txBody>
      </p:sp>
    </p:spTree>
    <p:extLst>
      <p:ext uri="{BB962C8B-B14F-4D97-AF65-F5344CB8AC3E}">
        <p14:creationId xmlns:p14="http://schemas.microsoft.com/office/powerpoint/2010/main" val="1876228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973789" y="1122882"/>
            <a:ext cx="6244419" cy="4710841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What do the residuals tell us about model fit?</a:t>
            </a:r>
          </a:p>
        </p:txBody>
      </p:sp>
    </p:spTree>
    <p:extLst>
      <p:ext uri="{BB962C8B-B14F-4D97-AF65-F5344CB8AC3E}">
        <p14:creationId xmlns:p14="http://schemas.microsoft.com/office/powerpoint/2010/main" val="35279833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536402" y="1122882"/>
            <a:ext cx="5119192" cy="4710841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What do the residuals tell us about model fit?</a:t>
            </a:r>
          </a:p>
        </p:txBody>
      </p:sp>
    </p:spTree>
    <p:extLst>
      <p:ext uri="{BB962C8B-B14F-4D97-AF65-F5344CB8AC3E}">
        <p14:creationId xmlns:p14="http://schemas.microsoft.com/office/powerpoint/2010/main" val="636463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638112" y="996084"/>
            <a:ext cx="6908688" cy="500480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What do the residuals tell us about model fit?</a:t>
            </a:r>
          </a:p>
        </p:txBody>
      </p:sp>
    </p:spTree>
    <p:extLst>
      <p:ext uri="{BB962C8B-B14F-4D97-AF65-F5344CB8AC3E}">
        <p14:creationId xmlns:p14="http://schemas.microsoft.com/office/powerpoint/2010/main" val="19389270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638112" y="996084"/>
            <a:ext cx="6908688" cy="500480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What do the residuals tell us about model fit?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F9BAB-8570-465B-800D-56FB6E2E80CE}"/>
              </a:ext>
            </a:extLst>
          </p:cNvPr>
          <p:cNvSpPr txBox="1"/>
          <p:nvPr/>
        </p:nvSpPr>
        <p:spPr>
          <a:xfrm rot="20137841">
            <a:off x="789964" y="3949118"/>
            <a:ext cx="1124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Patterns!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4352CD-6213-47AD-980D-148DEAA00FC6}"/>
              </a:ext>
            </a:extLst>
          </p:cNvPr>
          <p:cNvSpPr txBox="1"/>
          <p:nvPr/>
        </p:nvSpPr>
        <p:spPr>
          <a:xfrm rot="20137841">
            <a:off x="587345" y="2143079"/>
            <a:ext cx="1390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Regularity!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872766-540F-433C-ADEE-FB328CA13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45686">
            <a:off x="8286719" y="1589815"/>
            <a:ext cx="3585605" cy="238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832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265404" y="1550721"/>
            <a:ext cx="3661188" cy="4710841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</p:spTree>
    <p:extLst>
      <p:ext uri="{BB962C8B-B14F-4D97-AF65-F5344CB8AC3E}">
        <p14:creationId xmlns:p14="http://schemas.microsoft.com/office/powerpoint/2010/main" val="38899497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196437" y="1224354"/>
            <a:ext cx="5799126" cy="5382019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</p:spTree>
    <p:extLst>
      <p:ext uri="{BB962C8B-B14F-4D97-AF65-F5344CB8AC3E}">
        <p14:creationId xmlns:p14="http://schemas.microsoft.com/office/powerpoint/2010/main" val="40143878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24476" y="1210345"/>
            <a:ext cx="7343048" cy="539602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</p:spTree>
    <p:extLst>
      <p:ext uri="{BB962C8B-B14F-4D97-AF65-F5344CB8AC3E}">
        <p14:creationId xmlns:p14="http://schemas.microsoft.com/office/powerpoint/2010/main" val="5354603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714686" y="996084"/>
            <a:ext cx="6755539" cy="500480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Note that not all configurations allow for </a:t>
            </a:r>
            <a:r>
              <a:rPr lang="en-US" b="1" i="1" dirty="0"/>
              <a:t>Confidence Bands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54323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041754" y="996084"/>
            <a:ext cx="6101403" cy="500480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Note that not all configurations allow for </a:t>
            </a:r>
            <a:r>
              <a:rPr lang="en-US" b="1" i="1" dirty="0"/>
              <a:t>Confidence Bands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31934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384198" y="996084"/>
            <a:ext cx="5416514" cy="500480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Note that not all configurations allow for </a:t>
            </a:r>
            <a:r>
              <a:rPr lang="en-US" b="1" i="1" dirty="0"/>
              <a:t>Confidence Bands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40965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384198" y="996084"/>
            <a:ext cx="5416514" cy="500480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Confidence Bands </a:t>
            </a:r>
            <a:r>
              <a:rPr lang="en-US" b="1" dirty="0"/>
              <a:t>default to 95% confidence.</a:t>
            </a:r>
          </a:p>
        </p:txBody>
      </p:sp>
    </p:spTree>
    <p:extLst>
      <p:ext uri="{BB962C8B-B14F-4D97-AF65-F5344CB8AC3E}">
        <p14:creationId xmlns:p14="http://schemas.microsoft.com/office/powerpoint/2010/main" val="33328512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33651" y="996084"/>
            <a:ext cx="5317608" cy="500480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Trend 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Right clicking and selecting </a:t>
            </a:r>
            <a:r>
              <a:rPr lang="en-US" b="1" i="1" dirty="0"/>
              <a:t>Describe Trend Line</a:t>
            </a:r>
            <a:r>
              <a:rPr lang="en-US" b="1" dirty="0"/>
              <a:t> gives the statistical properties.</a:t>
            </a:r>
          </a:p>
        </p:txBody>
      </p:sp>
    </p:spTree>
    <p:extLst>
      <p:ext uri="{BB962C8B-B14F-4D97-AF65-F5344CB8AC3E}">
        <p14:creationId xmlns:p14="http://schemas.microsoft.com/office/powerpoint/2010/main" val="926402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733396" y="1122882"/>
            <a:ext cx="6725204" cy="4710841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Is there a relationship between date and air pollution in Seoul?</a:t>
            </a:r>
          </a:p>
        </p:txBody>
      </p:sp>
    </p:spTree>
    <p:extLst>
      <p:ext uri="{BB962C8B-B14F-4D97-AF65-F5344CB8AC3E}">
        <p14:creationId xmlns:p14="http://schemas.microsoft.com/office/powerpoint/2010/main" val="3221090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3902" y="1166070"/>
            <a:ext cx="10644194" cy="476771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 </a:t>
            </a:r>
            <a:r>
              <a:rPr lang="en-US" b="1" i="1" dirty="0"/>
              <a:t>Trend Line </a:t>
            </a:r>
            <a:r>
              <a:rPr lang="en-US" b="1" dirty="0"/>
              <a:t>options don’t look too promising.</a:t>
            </a:r>
          </a:p>
        </p:txBody>
      </p:sp>
    </p:spTree>
    <p:extLst>
      <p:ext uri="{BB962C8B-B14F-4D97-AF65-F5344CB8AC3E}">
        <p14:creationId xmlns:p14="http://schemas.microsoft.com/office/powerpoint/2010/main" val="27838853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3902" y="1166070"/>
            <a:ext cx="10644194" cy="476771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 seasonal nature tells us we should use a </a:t>
            </a:r>
            <a:r>
              <a:rPr lang="en-US" b="1" i="1" dirty="0"/>
              <a:t>Forecast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13421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691649" y="1166070"/>
            <a:ext cx="6808700" cy="476771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 seasonal nature tells us we should use a </a:t>
            </a:r>
            <a:r>
              <a:rPr lang="en-US" b="1" i="1" dirty="0"/>
              <a:t>Forecast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25866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901810" y="1166070"/>
            <a:ext cx="6388378" cy="476771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 seasonal nature tells us we should use a </a:t>
            </a:r>
            <a:r>
              <a:rPr lang="en-US" b="1" i="1" dirty="0"/>
              <a:t>Forecast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66539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901810" y="1166070"/>
            <a:ext cx="6388378" cy="476771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Right clicking the line gives us some options.</a:t>
            </a:r>
          </a:p>
        </p:txBody>
      </p:sp>
    </p:spTree>
    <p:extLst>
      <p:ext uri="{BB962C8B-B14F-4D97-AF65-F5344CB8AC3E}">
        <p14:creationId xmlns:p14="http://schemas.microsoft.com/office/powerpoint/2010/main" val="12477855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49994" y="1196322"/>
            <a:ext cx="7292010" cy="461635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Right clicking the line gives us some options.</a:t>
            </a:r>
          </a:p>
        </p:txBody>
      </p:sp>
    </p:spTree>
    <p:extLst>
      <p:ext uri="{BB962C8B-B14F-4D97-AF65-F5344CB8AC3E}">
        <p14:creationId xmlns:p14="http://schemas.microsoft.com/office/powerpoint/2010/main" val="24390644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59631" y="1196322"/>
            <a:ext cx="3272735" cy="461635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Right clicking the line gives us some options.</a:t>
            </a:r>
          </a:p>
        </p:txBody>
      </p:sp>
    </p:spTree>
    <p:extLst>
      <p:ext uri="{BB962C8B-B14F-4D97-AF65-F5344CB8AC3E}">
        <p14:creationId xmlns:p14="http://schemas.microsoft.com/office/powerpoint/2010/main" val="12771054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59631" y="1204641"/>
            <a:ext cx="3272735" cy="459972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Right clicking the line gives us some options.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23CA6D-728A-4A46-AF72-833E46F06BB6}"/>
              </a:ext>
            </a:extLst>
          </p:cNvPr>
          <p:cNvSpPr txBox="1"/>
          <p:nvPr/>
        </p:nvSpPr>
        <p:spPr>
          <a:xfrm rot="19777410">
            <a:off x="894930" y="1702625"/>
            <a:ext cx="1220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Adaptive!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7D6F98-0112-48F8-9BA2-54950BAF4C41}"/>
              </a:ext>
            </a:extLst>
          </p:cNvPr>
          <p:cNvSpPr txBox="1"/>
          <p:nvPr/>
        </p:nvSpPr>
        <p:spPr>
          <a:xfrm rot="1675758">
            <a:off x="9872765" y="1716605"/>
            <a:ext cx="1361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Hyperlinks!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F5C0E-129D-46E0-9F40-0158783F9751}"/>
              </a:ext>
            </a:extLst>
          </p:cNvPr>
          <p:cNvSpPr txBox="1"/>
          <p:nvPr/>
        </p:nvSpPr>
        <p:spPr>
          <a:xfrm rot="1675758">
            <a:off x="9609473" y="3490108"/>
            <a:ext cx="1584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Customizable!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90ED65-4A9E-44FF-9620-42CFAA835198}"/>
              </a:ext>
            </a:extLst>
          </p:cNvPr>
          <p:cNvSpPr txBox="1"/>
          <p:nvPr/>
        </p:nvSpPr>
        <p:spPr>
          <a:xfrm rot="19777410">
            <a:off x="1000984" y="3556452"/>
            <a:ext cx="1220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Bubbles!</a:t>
            </a:r>
          </a:p>
        </p:txBody>
      </p:sp>
    </p:spTree>
    <p:extLst>
      <p:ext uri="{BB962C8B-B14F-4D97-AF65-F5344CB8AC3E}">
        <p14:creationId xmlns:p14="http://schemas.microsoft.com/office/powerpoint/2010/main" val="6073666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59631" y="1204641"/>
            <a:ext cx="3272735" cy="459972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 hyperlink takes us to a great high-level resource for forecasting in Tableau.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23CA6D-728A-4A46-AF72-833E46F06BB6}"/>
              </a:ext>
            </a:extLst>
          </p:cNvPr>
          <p:cNvSpPr txBox="1"/>
          <p:nvPr/>
        </p:nvSpPr>
        <p:spPr>
          <a:xfrm rot="19777410">
            <a:off x="894930" y="1702625"/>
            <a:ext cx="1220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Adaptive!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7D6F98-0112-48F8-9BA2-54950BAF4C41}"/>
              </a:ext>
            </a:extLst>
          </p:cNvPr>
          <p:cNvSpPr txBox="1"/>
          <p:nvPr/>
        </p:nvSpPr>
        <p:spPr>
          <a:xfrm rot="1675758">
            <a:off x="9872765" y="1716605"/>
            <a:ext cx="1361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Hyperlinks!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F5C0E-129D-46E0-9F40-0158783F9751}"/>
              </a:ext>
            </a:extLst>
          </p:cNvPr>
          <p:cNvSpPr txBox="1"/>
          <p:nvPr/>
        </p:nvSpPr>
        <p:spPr>
          <a:xfrm rot="1675758">
            <a:off x="9609473" y="3490108"/>
            <a:ext cx="1584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Customizable!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90ED65-4A9E-44FF-9620-42CFAA835198}"/>
              </a:ext>
            </a:extLst>
          </p:cNvPr>
          <p:cNvSpPr txBox="1"/>
          <p:nvPr/>
        </p:nvSpPr>
        <p:spPr>
          <a:xfrm rot="19777410">
            <a:off x="1000984" y="3556452"/>
            <a:ext cx="1220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Bubbles!</a:t>
            </a:r>
          </a:p>
        </p:txBody>
      </p:sp>
    </p:spTree>
    <p:extLst>
      <p:ext uri="{BB962C8B-B14F-4D97-AF65-F5344CB8AC3E}">
        <p14:creationId xmlns:p14="http://schemas.microsoft.com/office/powerpoint/2010/main" val="35732084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283138" y="1275221"/>
            <a:ext cx="7625721" cy="430755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 hyperlink takes us to a great high-level resource for forecasting in Tableau.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23CA6D-728A-4A46-AF72-833E46F06BB6}"/>
              </a:ext>
            </a:extLst>
          </p:cNvPr>
          <p:cNvSpPr txBox="1"/>
          <p:nvPr/>
        </p:nvSpPr>
        <p:spPr>
          <a:xfrm rot="19777410">
            <a:off x="894930" y="1702625"/>
            <a:ext cx="1220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Adaptive!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7D6F98-0112-48F8-9BA2-54950BAF4C41}"/>
              </a:ext>
            </a:extLst>
          </p:cNvPr>
          <p:cNvSpPr txBox="1"/>
          <p:nvPr/>
        </p:nvSpPr>
        <p:spPr>
          <a:xfrm rot="1675758">
            <a:off x="9872765" y="1716605"/>
            <a:ext cx="1361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Hyperlinks!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F5C0E-129D-46E0-9F40-0158783F9751}"/>
              </a:ext>
            </a:extLst>
          </p:cNvPr>
          <p:cNvSpPr txBox="1"/>
          <p:nvPr/>
        </p:nvSpPr>
        <p:spPr>
          <a:xfrm rot="1675758">
            <a:off x="9609473" y="3490108"/>
            <a:ext cx="1584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Customizable!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90ED65-4A9E-44FF-9620-42CFAA835198}"/>
              </a:ext>
            </a:extLst>
          </p:cNvPr>
          <p:cNvSpPr txBox="1"/>
          <p:nvPr/>
        </p:nvSpPr>
        <p:spPr>
          <a:xfrm rot="19777410">
            <a:off x="1000984" y="3556452"/>
            <a:ext cx="1220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Bubbles!</a:t>
            </a:r>
          </a:p>
        </p:txBody>
      </p:sp>
    </p:spTree>
    <p:extLst>
      <p:ext uri="{BB962C8B-B14F-4D97-AF65-F5344CB8AC3E}">
        <p14:creationId xmlns:p14="http://schemas.microsoft.com/office/powerpoint/2010/main" val="1019900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49994" y="1196322"/>
            <a:ext cx="7292010" cy="461635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Right clicking the line gives us some options.</a:t>
            </a:r>
          </a:p>
        </p:txBody>
      </p:sp>
    </p:spTree>
    <p:extLst>
      <p:ext uri="{BB962C8B-B14F-4D97-AF65-F5344CB8AC3E}">
        <p14:creationId xmlns:p14="http://schemas.microsoft.com/office/powerpoint/2010/main" val="18975062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49994" y="1516098"/>
            <a:ext cx="7292010" cy="3976805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Right clicking the line gives us some options.</a:t>
            </a:r>
          </a:p>
        </p:txBody>
      </p:sp>
    </p:spTree>
    <p:extLst>
      <p:ext uri="{BB962C8B-B14F-4D97-AF65-F5344CB8AC3E}">
        <p14:creationId xmlns:p14="http://schemas.microsoft.com/office/powerpoint/2010/main" val="33254902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49994" y="1521963"/>
            <a:ext cx="7292010" cy="3965074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Right clicking the line gives us some options.</a:t>
            </a:r>
          </a:p>
        </p:txBody>
      </p:sp>
    </p:spTree>
    <p:extLst>
      <p:ext uri="{BB962C8B-B14F-4D97-AF65-F5344CB8AC3E}">
        <p14:creationId xmlns:p14="http://schemas.microsoft.com/office/powerpoint/2010/main" val="24203518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49994" y="1521963"/>
            <a:ext cx="7292010" cy="3965074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We also have another great hyperlink.</a:t>
            </a:r>
          </a:p>
        </p:txBody>
      </p:sp>
    </p:spTree>
    <p:extLst>
      <p:ext uri="{BB962C8B-B14F-4D97-AF65-F5344CB8AC3E}">
        <p14:creationId xmlns:p14="http://schemas.microsoft.com/office/powerpoint/2010/main" val="4560538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57821" y="1103900"/>
            <a:ext cx="8276356" cy="4748806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We also have another great hyperlink.</a:t>
            </a:r>
          </a:p>
        </p:txBody>
      </p:sp>
    </p:spTree>
    <p:extLst>
      <p:ext uri="{BB962C8B-B14F-4D97-AF65-F5344CB8AC3E}">
        <p14:creationId xmlns:p14="http://schemas.microsoft.com/office/powerpoint/2010/main" val="13571422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57821" y="1103900"/>
            <a:ext cx="8276356" cy="4748806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Let’s go back to that options dialog.</a:t>
            </a:r>
          </a:p>
        </p:txBody>
      </p:sp>
    </p:spTree>
    <p:extLst>
      <p:ext uri="{BB962C8B-B14F-4D97-AF65-F5344CB8AC3E}">
        <p14:creationId xmlns:p14="http://schemas.microsoft.com/office/powerpoint/2010/main" val="17378397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06594" y="1103900"/>
            <a:ext cx="3378810" cy="4748806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Let’s go back to that options dialog.</a:t>
            </a:r>
          </a:p>
        </p:txBody>
      </p:sp>
    </p:spTree>
    <p:extLst>
      <p:ext uri="{BB962C8B-B14F-4D97-AF65-F5344CB8AC3E}">
        <p14:creationId xmlns:p14="http://schemas.microsoft.com/office/powerpoint/2010/main" val="16911322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06594" y="1103900"/>
            <a:ext cx="3378810" cy="4748806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This is where we can change the forecast length.</a:t>
            </a:r>
          </a:p>
        </p:txBody>
      </p:sp>
    </p:spTree>
    <p:extLst>
      <p:ext uri="{BB962C8B-B14F-4D97-AF65-F5344CB8AC3E}">
        <p14:creationId xmlns:p14="http://schemas.microsoft.com/office/powerpoint/2010/main" val="27055918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02023" y="1121247"/>
            <a:ext cx="8587953" cy="4615505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This is where we can change the forecast length.</a:t>
            </a:r>
          </a:p>
        </p:txBody>
      </p:sp>
    </p:spTree>
    <p:extLst>
      <p:ext uri="{BB962C8B-B14F-4D97-AF65-F5344CB8AC3E}">
        <p14:creationId xmlns:p14="http://schemas.microsoft.com/office/powerpoint/2010/main" val="2634211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02023" y="1121247"/>
            <a:ext cx="8587953" cy="4615505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Changing the mark for the viz can yield some interesting alternatives.</a:t>
            </a:r>
          </a:p>
        </p:txBody>
      </p:sp>
    </p:spTree>
    <p:extLst>
      <p:ext uri="{BB962C8B-B14F-4D97-AF65-F5344CB8AC3E}">
        <p14:creationId xmlns:p14="http://schemas.microsoft.com/office/powerpoint/2010/main" val="37286894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02023" y="1144803"/>
            <a:ext cx="8587953" cy="4568393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Changing the mark for the viz can yield some interesting alternatives.</a:t>
            </a:r>
          </a:p>
        </p:txBody>
      </p:sp>
    </p:spTree>
    <p:extLst>
      <p:ext uri="{BB962C8B-B14F-4D97-AF65-F5344CB8AC3E}">
        <p14:creationId xmlns:p14="http://schemas.microsoft.com/office/powerpoint/2010/main" val="16684189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02023" y="1126433"/>
            <a:ext cx="8587953" cy="4605133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Changing the mark for the viz can yield some interesting alternatives.</a:t>
            </a:r>
          </a:p>
        </p:txBody>
      </p:sp>
    </p:spTree>
    <p:extLst>
      <p:ext uri="{BB962C8B-B14F-4D97-AF65-F5344CB8AC3E}">
        <p14:creationId xmlns:p14="http://schemas.microsoft.com/office/powerpoint/2010/main" val="10662295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614984" y="1126433"/>
            <a:ext cx="4962030" cy="4605133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Card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Is there a super quick way we can describe the spread of these two variables to our audience?</a:t>
            </a:r>
          </a:p>
        </p:txBody>
      </p:sp>
    </p:spTree>
    <p:extLst>
      <p:ext uri="{BB962C8B-B14F-4D97-AF65-F5344CB8AC3E}">
        <p14:creationId xmlns:p14="http://schemas.microsoft.com/office/powerpoint/2010/main" val="8231483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800286" y="1172876"/>
            <a:ext cx="6591425" cy="4610853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Card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Is there a super quick way we can describe the spread of these two variables to our audience?</a:t>
            </a:r>
          </a:p>
        </p:txBody>
      </p:sp>
    </p:spTree>
    <p:extLst>
      <p:ext uri="{BB962C8B-B14F-4D97-AF65-F5344CB8AC3E}">
        <p14:creationId xmlns:p14="http://schemas.microsoft.com/office/powerpoint/2010/main" val="12975574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24730" y="1080667"/>
            <a:ext cx="8942538" cy="4795272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Card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Is there a super quick way we can describe the spread of these two variables to our audience?</a:t>
            </a:r>
          </a:p>
        </p:txBody>
      </p:sp>
    </p:spTree>
    <p:extLst>
      <p:ext uri="{BB962C8B-B14F-4D97-AF65-F5344CB8AC3E}">
        <p14:creationId xmlns:p14="http://schemas.microsoft.com/office/powerpoint/2010/main" val="9912472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40D4E7-6CB0-40F0-9FFD-9707B0F4B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24730" y="1080667"/>
            <a:ext cx="8942538" cy="4795272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7C6F0F-3945-4E57-A8B7-12F77CE2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1627"/>
            <a:ext cx="7729728" cy="704087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Card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4B026-2ABF-495D-8906-8856F0F524D8}"/>
              </a:ext>
            </a:extLst>
          </p:cNvPr>
          <p:cNvSpPr txBox="1"/>
          <p:nvPr/>
        </p:nvSpPr>
        <p:spPr>
          <a:xfrm>
            <a:off x="2645199" y="6000892"/>
            <a:ext cx="690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Is there a super quick way we can describe the spread of these two variables to our audience?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75273-7343-4360-8AB3-B5989D414A6B}"/>
              </a:ext>
            </a:extLst>
          </p:cNvPr>
          <p:cNvSpPr txBox="1"/>
          <p:nvPr/>
        </p:nvSpPr>
        <p:spPr>
          <a:xfrm rot="20293520">
            <a:off x="395637" y="3055247"/>
            <a:ext cx="10048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>
                  <a:solidFill>
                    <a:srgbClr val="7030A0"/>
                  </a:solidFill>
                </a:ln>
                <a:solidFill>
                  <a:srgbClr val="FF0000"/>
                </a:solidFill>
              </a:rPr>
              <a:t>You’re now an expert in </a:t>
            </a:r>
            <a:r>
              <a:rPr lang="en-US" sz="3200" b="1" i="1" dirty="0">
                <a:ln>
                  <a:solidFill>
                    <a:srgbClr val="7030A0"/>
                  </a:solidFill>
                </a:ln>
                <a:solidFill>
                  <a:srgbClr val="FF0000"/>
                </a:solidFill>
              </a:rPr>
              <a:t>“Drag and Drop Analytics”!!!</a:t>
            </a:r>
            <a:endParaRPr lang="en-US" b="1" dirty="0">
              <a:ln>
                <a:solidFill>
                  <a:srgbClr val="7030A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37750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347</TotalTime>
  <Words>1223</Words>
  <Application>Microsoft Office PowerPoint</Application>
  <PresentationFormat>Widescreen</PresentationFormat>
  <Paragraphs>264</Paragraphs>
  <Slides>71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5" baseType="lpstr">
      <vt:lpstr>Arial</vt:lpstr>
      <vt:lpstr>Calibri</vt:lpstr>
      <vt:lpstr>Gill Sans MT</vt:lpstr>
      <vt:lpstr>Parcel</vt:lpstr>
      <vt:lpstr>Analytics in Tableau</vt:lpstr>
      <vt:lpstr>The analytics pane</vt:lpstr>
      <vt:lpstr>The analytics pane</vt:lpstr>
      <vt:lpstr>The analytics pane</vt:lpstr>
      <vt:lpstr>The analytics pane</vt:lpstr>
      <vt:lpstr>The analytics pane</vt:lpstr>
      <vt:lpstr>Reference lines</vt:lpstr>
      <vt:lpstr>Reference lines</vt:lpstr>
      <vt:lpstr>Reference lines</vt:lpstr>
      <vt:lpstr>Reference lines</vt:lpstr>
      <vt:lpstr>Reference lines</vt:lpstr>
      <vt:lpstr>Reference lines</vt:lpstr>
      <vt:lpstr>Reference lines</vt:lpstr>
      <vt:lpstr>Reference lines</vt:lpstr>
      <vt:lpstr>Reference lines</vt:lpstr>
      <vt:lpstr>Reference lines</vt:lpstr>
      <vt:lpstr>Reference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Trend lines</vt:lpstr>
      <vt:lpstr>Forecasts</vt:lpstr>
      <vt:lpstr>Forecasts</vt:lpstr>
      <vt:lpstr>Forecasts</vt:lpstr>
      <vt:lpstr>Forecasts</vt:lpstr>
      <vt:lpstr>Forecasts</vt:lpstr>
      <vt:lpstr>Forecasts</vt:lpstr>
      <vt:lpstr>Forecasts</vt:lpstr>
      <vt:lpstr>Forecasts</vt:lpstr>
      <vt:lpstr>Forecasts</vt:lpstr>
      <vt:lpstr>Forecasts</vt:lpstr>
      <vt:lpstr>Forecasts</vt:lpstr>
      <vt:lpstr>Forecasts</vt:lpstr>
      <vt:lpstr>Forecasts</vt:lpstr>
      <vt:lpstr>Forecasts</vt:lpstr>
      <vt:lpstr>Forecasts</vt:lpstr>
      <vt:lpstr>Forecasts</vt:lpstr>
      <vt:lpstr>Forecasts</vt:lpstr>
      <vt:lpstr>Forecasts</vt:lpstr>
      <vt:lpstr>Forecasts</vt:lpstr>
      <vt:lpstr>Forecasts</vt:lpstr>
      <vt:lpstr>Forecasts</vt:lpstr>
      <vt:lpstr>Forecasts</vt:lpstr>
      <vt:lpstr>Forecasts</vt:lpstr>
      <vt:lpstr>Summary Card</vt:lpstr>
      <vt:lpstr>Summary Card</vt:lpstr>
      <vt:lpstr>Summary Card</vt:lpstr>
      <vt:lpstr>Summary Card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Analytics in Tableau</dc:title>
  <dc:creator>Steven VanDenDriessche</dc:creator>
  <cp:lastModifiedBy>Steven VanDenDriessche</cp:lastModifiedBy>
  <cp:revision>23</cp:revision>
  <dcterms:created xsi:type="dcterms:W3CDTF">2020-05-26T23:08:16Z</dcterms:created>
  <dcterms:modified xsi:type="dcterms:W3CDTF">2020-05-27T17:54:05Z</dcterms:modified>
</cp:coreProperties>
</file>