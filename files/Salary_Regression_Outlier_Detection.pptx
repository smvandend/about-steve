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8" r:id="rId1"/>
  </p:sldMasterIdLst>
  <p:notesMasterIdLst>
    <p:notesMasterId r:id="rId28"/>
  </p:notesMasterIdLst>
  <p:handoutMasterIdLst>
    <p:handoutMasterId r:id="rId29"/>
  </p:handoutMasterIdLst>
  <p:sldIdLst>
    <p:sldId id="258" r:id="rId2"/>
    <p:sldId id="446" r:id="rId3"/>
    <p:sldId id="425" r:id="rId4"/>
    <p:sldId id="431" r:id="rId5"/>
    <p:sldId id="426" r:id="rId6"/>
    <p:sldId id="430" r:id="rId7"/>
    <p:sldId id="428" r:id="rId8"/>
    <p:sldId id="429" r:id="rId9"/>
    <p:sldId id="432" r:id="rId10"/>
    <p:sldId id="433" r:id="rId11"/>
    <p:sldId id="434" r:id="rId12"/>
    <p:sldId id="435" r:id="rId13"/>
    <p:sldId id="436" r:id="rId14"/>
    <p:sldId id="437" r:id="rId15"/>
    <p:sldId id="449" r:id="rId16"/>
    <p:sldId id="438" r:id="rId17"/>
    <p:sldId id="439" r:id="rId18"/>
    <p:sldId id="440" r:id="rId19"/>
    <p:sldId id="441" r:id="rId20"/>
    <p:sldId id="442" r:id="rId21"/>
    <p:sldId id="443" r:id="rId22"/>
    <p:sldId id="444" r:id="rId23"/>
    <p:sldId id="445" r:id="rId24"/>
    <p:sldId id="450" r:id="rId25"/>
    <p:sldId id="447" r:id="rId26"/>
    <p:sldId id="448" r:id="rId27"/>
  </p:sldIdLst>
  <p:sldSz cx="9144000" cy="6858000" type="screen4x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4"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223F"/>
    <a:srgbClr val="B291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73" autoAdjust="0"/>
    <p:restoredTop sz="80822" autoAdjust="0"/>
  </p:normalViewPr>
  <p:slideViewPr>
    <p:cSldViewPr snapToObjects="1" showGuides="1">
      <p:cViewPr varScale="1">
        <p:scale>
          <a:sx n="92" d="100"/>
          <a:sy n="92" d="100"/>
        </p:scale>
        <p:origin x="2556" y="96"/>
      </p:cViewPr>
      <p:guideLst>
        <p:guide orient="horz" pos="2160"/>
        <p:guide pos="2880"/>
      </p:guideLst>
    </p:cSldViewPr>
  </p:slideViewPr>
  <p:outlineViewPr>
    <p:cViewPr>
      <p:scale>
        <a:sx n="33" d="100"/>
        <a:sy n="33" d="100"/>
      </p:scale>
      <p:origin x="0" y="-384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fld id="{971D6168-B170-0B42-BF20-5FF300E93526}" type="datetimeFigureOut">
              <a:rPr lang="en-US" smtClean="0"/>
              <a:t>3/24/2022</a:t>
            </a:fld>
            <a:endParaRPr lang="en-US"/>
          </a:p>
        </p:txBody>
      </p:sp>
      <p:sp>
        <p:nvSpPr>
          <p:cNvPr id="4" name="Footer Placeholder 3"/>
          <p:cNvSpPr>
            <a:spLocks noGrp="1"/>
          </p:cNvSpPr>
          <p:nvPr>
            <p:ph type="ftr" sz="quarter" idx="2"/>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80013" y="6513513"/>
            <a:ext cx="3962400" cy="342900"/>
          </a:xfrm>
          <a:prstGeom prst="rect">
            <a:avLst/>
          </a:prstGeom>
        </p:spPr>
        <p:txBody>
          <a:bodyPr vert="horz" lIns="91440" tIns="45720" rIns="91440" bIns="45720" rtlCol="0" anchor="b"/>
          <a:lstStyle>
            <a:lvl1pPr algn="r">
              <a:defRPr sz="1200"/>
            </a:lvl1pPr>
          </a:lstStyle>
          <a:p>
            <a:fld id="{D31A9B91-FE0B-6E49-8FC2-B67F73ECFBA7}" type="slidenum">
              <a:rPr lang="en-US" smtClean="0"/>
              <a:t>‹#›</a:t>
            </a:fld>
            <a:endParaRPr lang="en-US"/>
          </a:p>
        </p:txBody>
      </p:sp>
    </p:spTree>
    <p:extLst>
      <p:ext uri="{BB962C8B-B14F-4D97-AF65-F5344CB8AC3E}">
        <p14:creationId xmlns:p14="http://schemas.microsoft.com/office/powerpoint/2010/main" val="168087165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6C192AC1-2444-4477-990B-7EB4F83836D5}" type="datetimeFigureOut">
              <a:rPr lang="en-US" smtClean="0"/>
              <a:t>3/24/2022</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F3463821-D469-459D-9663-6D31182CFD8F}" type="slidenum">
              <a:rPr lang="en-US" smtClean="0"/>
              <a:t>‹#›</a:t>
            </a:fld>
            <a:endParaRPr lang="en-US"/>
          </a:p>
        </p:txBody>
      </p:sp>
    </p:spTree>
    <p:extLst>
      <p:ext uri="{BB962C8B-B14F-4D97-AF65-F5344CB8AC3E}">
        <p14:creationId xmlns:p14="http://schemas.microsoft.com/office/powerpoint/2010/main" val="325924578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Thanks to organizers and moderators</a:t>
            </a:r>
          </a:p>
          <a:p>
            <a:r>
              <a:rPr lang="en-US" dirty="0"/>
              <a:t> - Should have put Gifs in like Bridgett and Doug</a:t>
            </a:r>
          </a:p>
          <a:p>
            <a:r>
              <a:rPr lang="en-US" dirty="0"/>
              <a:t> - Acknowledge references at the beginning</a:t>
            </a:r>
          </a:p>
          <a:p>
            <a:r>
              <a:rPr lang="en-US" dirty="0"/>
              <a:t> - Really focusing on outlier diagnostics</a:t>
            </a:r>
          </a:p>
          <a:p>
            <a:r>
              <a:rPr lang="en-US" dirty="0"/>
              <a:t> - In the spirit of Krista’s message from the keynote, this presentation is meant to be framed in a context for everyone, regardless of background</a:t>
            </a:r>
          </a:p>
        </p:txBody>
      </p:sp>
      <p:sp>
        <p:nvSpPr>
          <p:cNvPr id="4" name="Slide Number Placeholder 3"/>
          <p:cNvSpPr>
            <a:spLocks noGrp="1"/>
          </p:cNvSpPr>
          <p:nvPr>
            <p:ph type="sldNum" sz="quarter" idx="5"/>
          </p:nvPr>
        </p:nvSpPr>
        <p:spPr/>
        <p:txBody>
          <a:bodyPr/>
          <a:lstStyle/>
          <a:p>
            <a:fld id="{F3463821-D469-459D-9663-6D31182CFD8F}" type="slidenum">
              <a:rPr lang="en-US" smtClean="0"/>
              <a:t>1</a:t>
            </a:fld>
            <a:endParaRPr lang="en-US"/>
          </a:p>
        </p:txBody>
      </p:sp>
    </p:spTree>
    <p:extLst>
      <p:ext uri="{BB962C8B-B14F-4D97-AF65-F5344CB8AC3E}">
        <p14:creationId xmlns:p14="http://schemas.microsoft.com/office/powerpoint/2010/main" val="3054731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Actually a collection of questions – for example, are females paid equitably? Are URM faculty paid equitably?</a:t>
            </a:r>
          </a:p>
          <a:p>
            <a:r>
              <a:rPr lang="en-US" dirty="0"/>
              <a:t> - Also no fear of overtraining.</a:t>
            </a:r>
          </a:p>
          <a:p>
            <a:r>
              <a:rPr lang="en-US" dirty="0"/>
              <a:t> - Oprah joke</a:t>
            </a:r>
          </a:p>
        </p:txBody>
      </p:sp>
      <p:sp>
        <p:nvSpPr>
          <p:cNvPr id="4" name="Slide Number Placeholder 3"/>
          <p:cNvSpPr>
            <a:spLocks noGrp="1"/>
          </p:cNvSpPr>
          <p:nvPr>
            <p:ph type="sldNum" sz="quarter" idx="5"/>
          </p:nvPr>
        </p:nvSpPr>
        <p:spPr/>
        <p:txBody>
          <a:bodyPr/>
          <a:lstStyle/>
          <a:p>
            <a:fld id="{F3463821-D469-459D-9663-6D31182CFD8F}" type="slidenum">
              <a:rPr lang="en-US" smtClean="0"/>
              <a:t>2</a:t>
            </a:fld>
            <a:endParaRPr lang="en-US"/>
          </a:p>
        </p:txBody>
      </p:sp>
    </p:spTree>
    <p:extLst>
      <p:ext uri="{BB962C8B-B14F-4D97-AF65-F5344CB8AC3E}">
        <p14:creationId xmlns:p14="http://schemas.microsoft.com/office/powerpoint/2010/main" val="35027597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Assume that the left is reality, determine estimates of the parameters that best model reality.</a:t>
            </a:r>
          </a:p>
          <a:p>
            <a:r>
              <a:rPr lang="en-US" dirty="0"/>
              <a:t> - Model training is typically by OLS</a:t>
            </a:r>
          </a:p>
          <a:p>
            <a:r>
              <a:rPr lang="en-US" dirty="0"/>
              <a:t>OR</a:t>
            </a:r>
          </a:p>
          <a:p>
            <a:r>
              <a:rPr lang="en-US" dirty="0"/>
              <a:t> - Thinking of X, Y, and Beta as vectors and matrices:</a:t>
            </a:r>
          </a:p>
        </p:txBody>
      </p:sp>
      <p:sp>
        <p:nvSpPr>
          <p:cNvPr id="4" name="Slide Number Placeholder 3"/>
          <p:cNvSpPr>
            <a:spLocks noGrp="1"/>
          </p:cNvSpPr>
          <p:nvPr>
            <p:ph type="sldNum" sz="quarter" idx="5"/>
          </p:nvPr>
        </p:nvSpPr>
        <p:spPr/>
        <p:txBody>
          <a:bodyPr/>
          <a:lstStyle/>
          <a:p>
            <a:fld id="{F3463821-D469-459D-9663-6D31182CFD8F}" type="slidenum">
              <a:rPr lang="en-US" smtClean="0"/>
              <a:t>3</a:t>
            </a:fld>
            <a:endParaRPr lang="en-US"/>
          </a:p>
        </p:txBody>
      </p:sp>
    </p:spTree>
    <p:extLst>
      <p:ext uri="{BB962C8B-B14F-4D97-AF65-F5344CB8AC3E}">
        <p14:creationId xmlns:p14="http://schemas.microsoft.com/office/powerpoint/2010/main" val="36235012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m-hat is the vector of fitted values although y-hat is also often used, not sure of the history why this notation is used, but it’s how I learned this stuff so we’ll stick with it for this presentation.</a:t>
            </a:r>
          </a:p>
          <a:p>
            <a:r>
              <a:rPr lang="en-US" dirty="0"/>
              <a:t>Also, X is often called the design matrix.</a:t>
            </a:r>
          </a:p>
          <a:p>
            <a:endParaRPr lang="en-US" dirty="0"/>
          </a:p>
        </p:txBody>
      </p:sp>
      <p:sp>
        <p:nvSpPr>
          <p:cNvPr id="4" name="Slide Number Placeholder 3"/>
          <p:cNvSpPr>
            <a:spLocks noGrp="1"/>
          </p:cNvSpPr>
          <p:nvPr>
            <p:ph type="sldNum" sz="quarter" idx="5"/>
          </p:nvPr>
        </p:nvSpPr>
        <p:spPr/>
        <p:txBody>
          <a:bodyPr/>
          <a:lstStyle/>
          <a:p>
            <a:fld id="{F3463821-D469-459D-9663-6D31182CFD8F}" type="slidenum">
              <a:rPr lang="en-US" smtClean="0"/>
              <a:t>4</a:t>
            </a:fld>
            <a:endParaRPr lang="en-US"/>
          </a:p>
        </p:txBody>
      </p:sp>
    </p:spTree>
    <p:extLst>
      <p:ext uri="{BB962C8B-B14F-4D97-AF65-F5344CB8AC3E}">
        <p14:creationId xmlns:p14="http://schemas.microsoft.com/office/powerpoint/2010/main" val="4254387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idea, just add new vars. Two gives a plane in R^3, three gives a hyperplane in a higher dimension.</a:t>
            </a:r>
          </a:p>
        </p:txBody>
      </p:sp>
      <p:sp>
        <p:nvSpPr>
          <p:cNvPr id="4" name="Slide Number Placeholder 3"/>
          <p:cNvSpPr>
            <a:spLocks noGrp="1"/>
          </p:cNvSpPr>
          <p:nvPr>
            <p:ph type="sldNum" sz="quarter" idx="5"/>
          </p:nvPr>
        </p:nvSpPr>
        <p:spPr/>
        <p:txBody>
          <a:bodyPr/>
          <a:lstStyle/>
          <a:p>
            <a:fld id="{F3463821-D469-459D-9663-6D31182CFD8F}" type="slidenum">
              <a:rPr lang="en-US" smtClean="0"/>
              <a:t>5</a:t>
            </a:fld>
            <a:endParaRPr lang="en-US"/>
          </a:p>
        </p:txBody>
      </p:sp>
    </p:spTree>
    <p:extLst>
      <p:ext uri="{BB962C8B-B14F-4D97-AF65-F5344CB8AC3E}">
        <p14:creationId xmlns:p14="http://schemas.microsoft.com/office/powerpoint/2010/main" val="24930961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our conversion to matrix notation was independent of n, the formula holds.</a:t>
            </a:r>
          </a:p>
          <a:p>
            <a:r>
              <a:rPr lang="en-US" dirty="0"/>
              <a:t>We can mostly ignore this if needed, but it will be useful for some formulas we look at here in a little bit.</a:t>
            </a:r>
          </a:p>
          <a:p>
            <a:endParaRPr lang="en-US" dirty="0"/>
          </a:p>
        </p:txBody>
      </p:sp>
      <p:sp>
        <p:nvSpPr>
          <p:cNvPr id="4" name="Slide Number Placeholder 3"/>
          <p:cNvSpPr>
            <a:spLocks noGrp="1"/>
          </p:cNvSpPr>
          <p:nvPr>
            <p:ph type="sldNum" sz="quarter" idx="5"/>
          </p:nvPr>
        </p:nvSpPr>
        <p:spPr/>
        <p:txBody>
          <a:bodyPr/>
          <a:lstStyle/>
          <a:p>
            <a:fld id="{F3463821-D469-459D-9663-6D31182CFD8F}" type="slidenum">
              <a:rPr lang="en-US" smtClean="0"/>
              <a:t>6</a:t>
            </a:fld>
            <a:endParaRPr lang="en-US"/>
          </a:p>
        </p:txBody>
      </p:sp>
    </p:spTree>
    <p:extLst>
      <p:ext uri="{BB962C8B-B14F-4D97-AF65-F5344CB8AC3E}">
        <p14:creationId xmlns:p14="http://schemas.microsoft.com/office/powerpoint/2010/main" val="27970749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Dichotomous variable for rank -&gt; flag</a:t>
            </a:r>
          </a:p>
          <a:p>
            <a:r>
              <a:rPr lang="en-US" dirty="0"/>
              <a:t> - Note that gender flag could be implemented either way</a:t>
            </a:r>
          </a:p>
          <a:p>
            <a:r>
              <a:rPr lang="en-US" dirty="0"/>
              <a:t> - Actually use one big model for the University and then one for each college and each rank</a:t>
            </a:r>
          </a:p>
        </p:txBody>
      </p:sp>
      <p:sp>
        <p:nvSpPr>
          <p:cNvPr id="4" name="Slide Number Placeholder 3"/>
          <p:cNvSpPr>
            <a:spLocks noGrp="1"/>
          </p:cNvSpPr>
          <p:nvPr>
            <p:ph type="sldNum" sz="quarter" idx="5"/>
          </p:nvPr>
        </p:nvSpPr>
        <p:spPr/>
        <p:txBody>
          <a:bodyPr/>
          <a:lstStyle/>
          <a:p>
            <a:fld id="{F3463821-D469-459D-9663-6D31182CFD8F}" type="slidenum">
              <a:rPr lang="en-US" smtClean="0"/>
              <a:t>7</a:t>
            </a:fld>
            <a:endParaRPr lang="en-US"/>
          </a:p>
        </p:txBody>
      </p:sp>
    </p:spTree>
    <p:extLst>
      <p:ext uri="{BB962C8B-B14F-4D97-AF65-F5344CB8AC3E}">
        <p14:creationId xmlns:p14="http://schemas.microsoft.com/office/powerpoint/2010/main" val="7489934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Actual numbers are scrubbed because I did not really feel like going through the approval process needed to share this info.</a:t>
            </a:r>
          </a:p>
          <a:p>
            <a:r>
              <a:rPr lang="en-US" dirty="0"/>
              <a:t> - Note lack of significance for min and female variables.</a:t>
            </a:r>
          </a:p>
          <a:p>
            <a:r>
              <a:rPr lang="en-US" dirty="0"/>
              <a:t> - Note vertical ellipses and that there is more info. Adj R^2 = .757</a:t>
            </a:r>
          </a:p>
        </p:txBody>
      </p:sp>
      <p:sp>
        <p:nvSpPr>
          <p:cNvPr id="4" name="Slide Number Placeholder 3"/>
          <p:cNvSpPr>
            <a:spLocks noGrp="1"/>
          </p:cNvSpPr>
          <p:nvPr>
            <p:ph type="sldNum" sz="quarter" idx="5"/>
          </p:nvPr>
        </p:nvSpPr>
        <p:spPr/>
        <p:txBody>
          <a:bodyPr/>
          <a:lstStyle/>
          <a:p>
            <a:fld id="{F3463821-D469-459D-9663-6D31182CFD8F}" type="slidenum">
              <a:rPr lang="en-US" smtClean="0"/>
              <a:t>8</a:t>
            </a:fld>
            <a:endParaRPr lang="en-US"/>
          </a:p>
        </p:txBody>
      </p:sp>
    </p:spTree>
    <p:extLst>
      <p:ext uri="{BB962C8B-B14F-4D97-AF65-F5344CB8AC3E}">
        <p14:creationId xmlns:p14="http://schemas.microsoft.com/office/powerpoint/2010/main" val="28472576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dean who is a very good sociologist was looking at her College’s model and removed some number of particularly high earning females, which switched the coefficient to be significant. I wasn’t directly involved in this discussion, but my understanding is that the outliers were sort of hand-picked rather than chosen by following a rule.</a:t>
            </a:r>
          </a:p>
          <a:p>
            <a:r>
              <a:rPr lang="en-US" dirty="0"/>
              <a:t>- From discussion, it became clear that the potential outliers in question were all outliers in the independent variables, especially with regards to time in current rank, and the other time-related vars.</a:t>
            </a:r>
          </a:p>
          <a:p>
            <a:endParaRPr lang="en-US" dirty="0"/>
          </a:p>
        </p:txBody>
      </p:sp>
      <p:sp>
        <p:nvSpPr>
          <p:cNvPr id="4" name="Slide Number Placeholder 3"/>
          <p:cNvSpPr>
            <a:spLocks noGrp="1"/>
          </p:cNvSpPr>
          <p:nvPr>
            <p:ph type="sldNum" sz="quarter" idx="5"/>
          </p:nvPr>
        </p:nvSpPr>
        <p:spPr/>
        <p:txBody>
          <a:bodyPr/>
          <a:lstStyle/>
          <a:p>
            <a:fld id="{F3463821-D469-459D-9663-6D31182CFD8F}" type="slidenum">
              <a:rPr lang="en-US" smtClean="0"/>
              <a:t>9</a:t>
            </a:fld>
            <a:endParaRPr lang="en-US"/>
          </a:p>
        </p:txBody>
      </p:sp>
    </p:spTree>
    <p:extLst>
      <p:ext uri="{BB962C8B-B14F-4D97-AF65-F5344CB8AC3E}">
        <p14:creationId xmlns:p14="http://schemas.microsoft.com/office/powerpoint/2010/main" val="29889966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In some usage in the context of regression, an outlier is specifically a point with a high residual. </a:t>
            </a:r>
          </a:p>
          <a:p>
            <a:r>
              <a:rPr lang="en-US" dirty="0"/>
              <a:t>- In another sense, in regression we don’t really care is some point is far from the rest of the data, but rather, whether it breaks a pattern exhibited by the rest of the data.</a:t>
            </a:r>
          </a:p>
          <a:p>
            <a:r>
              <a:rPr lang="en-US" dirty="0"/>
              <a:t> - In this example, the green point is extreme in the sense that it falls far outside the typical range for x and y, but does not break the pattern (created to fall right on the line)</a:t>
            </a:r>
          </a:p>
          <a:p>
            <a:r>
              <a:rPr lang="en-US" dirty="0"/>
              <a:t> - The blue and red points however fall in the typical range for x and y, but do not follow the exhibited linear pattern.</a:t>
            </a:r>
          </a:p>
          <a:p>
            <a:r>
              <a:rPr lang="en-US" dirty="0"/>
              <a:t> - All three are outliers in their own way.</a:t>
            </a:r>
          </a:p>
          <a:p>
            <a:r>
              <a:rPr lang="en-US" dirty="0"/>
              <a:t> - We need measures to help us effectively determine what counts as an outlier and in what sense.</a:t>
            </a:r>
          </a:p>
        </p:txBody>
      </p:sp>
      <p:sp>
        <p:nvSpPr>
          <p:cNvPr id="4" name="Slide Number Placeholder 3"/>
          <p:cNvSpPr>
            <a:spLocks noGrp="1"/>
          </p:cNvSpPr>
          <p:nvPr>
            <p:ph type="sldNum" sz="quarter" idx="5"/>
          </p:nvPr>
        </p:nvSpPr>
        <p:spPr/>
        <p:txBody>
          <a:bodyPr/>
          <a:lstStyle/>
          <a:p>
            <a:fld id="{F3463821-D469-459D-9663-6D31182CFD8F}" type="slidenum">
              <a:rPr lang="en-US" smtClean="0"/>
              <a:t>10</a:t>
            </a:fld>
            <a:endParaRPr lang="en-US"/>
          </a:p>
        </p:txBody>
      </p:sp>
    </p:spTree>
    <p:extLst>
      <p:ext uri="{BB962C8B-B14F-4D97-AF65-F5344CB8AC3E}">
        <p14:creationId xmlns:p14="http://schemas.microsoft.com/office/powerpoint/2010/main" val="16106423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Observations 20 and 41 have approximately the same residual, but their inclusion/exclusion from model training has different influence on the regression line.</a:t>
            </a:r>
          </a:p>
          <a:p>
            <a:r>
              <a:rPr lang="en-US" dirty="0"/>
              <a:t> - The red line is fit on all of the data while the dashed blue line excludes observation 41. If we only exclude observation 20, there is far less of an impact on the regression line.</a:t>
            </a:r>
          </a:p>
          <a:p>
            <a:r>
              <a:rPr lang="en-US" dirty="0"/>
              <a:t> - Because of this, we call observation 41 a “high leverage point.”</a:t>
            </a:r>
          </a:p>
        </p:txBody>
      </p:sp>
      <p:sp>
        <p:nvSpPr>
          <p:cNvPr id="4" name="Slide Number Placeholder 3"/>
          <p:cNvSpPr>
            <a:spLocks noGrp="1"/>
          </p:cNvSpPr>
          <p:nvPr>
            <p:ph type="sldNum" sz="quarter" idx="5"/>
          </p:nvPr>
        </p:nvSpPr>
        <p:spPr/>
        <p:txBody>
          <a:bodyPr/>
          <a:lstStyle/>
          <a:p>
            <a:fld id="{F3463821-D469-459D-9663-6D31182CFD8F}" type="slidenum">
              <a:rPr lang="en-US" smtClean="0"/>
              <a:t>11</a:t>
            </a:fld>
            <a:endParaRPr lang="en-US"/>
          </a:p>
        </p:txBody>
      </p:sp>
    </p:spTree>
    <p:extLst>
      <p:ext uri="{BB962C8B-B14F-4D97-AF65-F5344CB8AC3E}">
        <p14:creationId xmlns:p14="http://schemas.microsoft.com/office/powerpoint/2010/main" val="335794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Suppose we have a data point (</a:t>
            </a:r>
            <a:r>
              <a:rPr lang="en-US" dirty="0" err="1"/>
              <a:t>x_i</a:t>
            </a:r>
            <a:r>
              <a:rPr lang="en-US" dirty="0"/>
              <a:t>, </a:t>
            </a:r>
            <a:r>
              <a:rPr lang="en-US" dirty="0" err="1"/>
              <a:t>y_i</a:t>
            </a:r>
            <a:r>
              <a:rPr lang="en-US" dirty="0"/>
              <a:t>) having </a:t>
            </a:r>
            <a:r>
              <a:rPr lang="en-US" dirty="0" err="1"/>
              <a:t>x_i</a:t>
            </a:r>
            <a:r>
              <a:rPr lang="en-US" dirty="0"/>
              <a:t> equal to x-bar, then the regression line *has* to go through x-bar, y-bar, almost regardless of the actual value of </a:t>
            </a:r>
            <a:r>
              <a:rPr lang="en-US" dirty="0" err="1"/>
              <a:t>y_i</a:t>
            </a:r>
            <a:r>
              <a:rPr lang="en-US" dirty="0"/>
              <a:t>. In this sense, the data point has very little influence over the regression line. </a:t>
            </a:r>
          </a:p>
        </p:txBody>
      </p:sp>
      <p:sp>
        <p:nvSpPr>
          <p:cNvPr id="4" name="Slide Number Placeholder 3"/>
          <p:cNvSpPr>
            <a:spLocks noGrp="1"/>
          </p:cNvSpPr>
          <p:nvPr>
            <p:ph type="sldNum" sz="quarter" idx="5"/>
          </p:nvPr>
        </p:nvSpPr>
        <p:spPr/>
        <p:txBody>
          <a:bodyPr/>
          <a:lstStyle/>
          <a:p>
            <a:fld id="{F3463821-D469-459D-9663-6D31182CFD8F}" type="slidenum">
              <a:rPr lang="en-US" smtClean="0"/>
              <a:t>12</a:t>
            </a:fld>
            <a:endParaRPr lang="en-US"/>
          </a:p>
        </p:txBody>
      </p:sp>
    </p:spTree>
    <p:extLst>
      <p:ext uri="{BB962C8B-B14F-4D97-AF65-F5344CB8AC3E}">
        <p14:creationId xmlns:p14="http://schemas.microsoft.com/office/powerpoint/2010/main" val="3419669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We won’t go into the derivation, but note that the distance from the average plays a major role in the definition and that y is nowhere to be found.</a:t>
            </a:r>
          </a:p>
          <a:p>
            <a:r>
              <a:rPr lang="en-US" dirty="0"/>
              <a:t> - If we switch back to matrix world, this is just the </a:t>
            </a:r>
            <a:r>
              <a:rPr lang="en-US" dirty="0" err="1"/>
              <a:t>ith</a:t>
            </a:r>
            <a:r>
              <a:rPr lang="en-US" dirty="0"/>
              <a:t> term on the diagonal of the hat matrix. It’s defined here, but the important thing to point out is that it already naturally shows up in the study of regression.</a:t>
            </a:r>
          </a:p>
          <a:p>
            <a:r>
              <a:rPr lang="en-US" dirty="0"/>
              <a:t> - The intuition is that the hat matrix describes the influence each response observation has on the set of all fitted values</a:t>
            </a:r>
          </a:p>
          <a:p>
            <a:r>
              <a:rPr lang="en-US" dirty="0"/>
              <a:t> - Also, this captures the notion we described where </a:t>
            </a:r>
            <a:r>
              <a:rPr lang="en-US" dirty="0" err="1"/>
              <a:t>H_ii</a:t>
            </a:r>
            <a:r>
              <a:rPr lang="en-US" dirty="0"/>
              <a:t> is the influence of </a:t>
            </a:r>
            <a:r>
              <a:rPr lang="en-US" dirty="0" err="1"/>
              <a:t>y_i</a:t>
            </a:r>
            <a:r>
              <a:rPr lang="en-US" dirty="0"/>
              <a:t> on its own fitted value.</a:t>
            </a:r>
          </a:p>
          <a:p>
            <a:r>
              <a:rPr lang="en-US" dirty="0"/>
              <a:t> - A cool insight about these equations is that they don’t care at all about y. </a:t>
            </a:r>
          </a:p>
        </p:txBody>
      </p:sp>
      <p:sp>
        <p:nvSpPr>
          <p:cNvPr id="4" name="Slide Number Placeholder 3"/>
          <p:cNvSpPr>
            <a:spLocks noGrp="1"/>
          </p:cNvSpPr>
          <p:nvPr>
            <p:ph type="sldNum" sz="quarter" idx="5"/>
          </p:nvPr>
        </p:nvSpPr>
        <p:spPr/>
        <p:txBody>
          <a:bodyPr/>
          <a:lstStyle/>
          <a:p>
            <a:fld id="{F3463821-D469-459D-9663-6D31182CFD8F}" type="slidenum">
              <a:rPr lang="en-US" smtClean="0"/>
              <a:t>13</a:t>
            </a:fld>
            <a:endParaRPr lang="en-US"/>
          </a:p>
        </p:txBody>
      </p:sp>
    </p:spTree>
    <p:extLst>
      <p:ext uri="{BB962C8B-B14F-4D97-AF65-F5344CB8AC3E}">
        <p14:creationId xmlns:p14="http://schemas.microsoft.com/office/powerpoint/2010/main" val="11666417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The intuition for the threshold is “twice the average” and some algebra shows that the average is (p+1)/n, which is what we are calculating in the </a:t>
            </a:r>
            <a:r>
              <a:rPr lang="en-US" dirty="0" err="1"/>
              <a:t>high_leverage</a:t>
            </a:r>
            <a:r>
              <a:rPr lang="en-US" dirty="0"/>
              <a:t> function.</a:t>
            </a:r>
          </a:p>
          <a:p>
            <a:r>
              <a:rPr lang="en-US" dirty="0"/>
              <a:t> - This direction of inquiry can be further explored by looking at “Studentized Residuals” </a:t>
            </a:r>
          </a:p>
        </p:txBody>
      </p:sp>
      <p:sp>
        <p:nvSpPr>
          <p:cNvPr id="4" name="Slide Number Placeholder 3"/>
          <p:cNvSpPr>
            <a:spLocks noGrp="1"/>
          </p:cNvSpPr>
          <p:nvPr>
            <p:ph type="sldNum" sz="quarter" idx="5"/>
          </p:nvPr>
        </p:nvSpPr>
        <p:spPr/>
        <p:txBody>
          <a:bodyPr/>
          <a:lstStyle/>
          <a:p>
            <a:fld id="{F3463821-D469-459D-9663-6D31182CFD8F}" type="slidenum">
              <a:rPr lang="en-US" smtClean="0"/>
              <a:t>14</a:t>
            </a:fld>
            <a:endParaRPr lang="en-US"/>
          </a:p>
        </p:txBody>
      </p:sp>
    </p:spTree>
    <p:extLst>
      <p:ext uri="{BB962C8B-B14F-4D97-AF65-F5344CB8AC3E}">
        <p14:creationId xmlns:p14="http://schemas.microsoft.com/office/powerpoint/2010/main" val="36632330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A Studentized Residual is obtained by taking the residual, </a:t>
            </a:r>
            <a:r>
              <a:rPr lang="en-US" dirty="0" err="1"/>
              <a:t>e_i</a:t>
            </a:r>
            <a:r>
              <a:rPr lang="en-US" dirty="0"/>
              <a:t> and dividing by its estimated standard error.</a:t>
            </a:r>
          </a:p>
          <a:p>
            <a:r>
              <a:rPr lang="en-US" dirty="0"/>
              <a:t> - A point with a Studentized Residual outside +/- 3 is a potential outlier.</a:t>
            </a:r>
          </a:p>
          <a:p>
            <a:r>
              <a:rPr lang="en-US" dirty="0"/>
              <a:t> - This combination can be used to see which observations are particularly influential to the model since the combination of high leverage and high studentized residual can throw a model way off.</a:t>
            </a:r>
          </a:p>
        </p:txBody>
      </p:sp>
      <p:sp>
        <p:nvSpPr>
          <p:cNvPr id="4" name="Slide Number Placeholder 3"/>
          <p:cNvSpPr>
            <a:spLocks noGrp="1"/>
          </p:cNvSpPr>
          <p:nvPr>
            <p:ph type="sldNum" sz="quarter" idx="5"/>
          </p:nvPr>
        </p:nvSpPr>
        <p:spPr/>
        <p:txBody>
          <a:bodyPr/>
          <a:lstStyle/>
          <a:p>
            <a:fld id="{F3463821-D469-459D-9663-6D31182CFD8F}" type="slidenum">
              <a:rPr lang="en-US" smtClean="0"/>
              <a:t>15</a:t>
            </a:fld>
            <a:endParaRPr lang="en-US"/>
          </a:p>
        </p:txBody>
      </p:sp>
    </p:spTree>
    <p:extLst>
      <p:ext uri="{BB962C8B-B14F-4D97-AF65-F5344CB8AC3E}">
        <p14:creationId xmlns:p14="http://schemas.microsoft.com/office/powerpoint/2010/main" val="39861580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As we discussed earlier, leaving out a data point has some impact on the regression line. Is there an easy way to quantify this impact?</a:t>
            </a:r>
          </a:p>
          <a:p>
            <a:r>
              <a:rPr lang="en-US" dirty="0"/>
              <a:t> - Recall that </a:t>
            </a:r>
            <a:r>
              <a:rPr lang="en-US" dirty="0" err="1"/>
              <a:t>m_hat</a:t>
            </a:r>
            <a:r>
              <a:rPr lang="en-US" dirty="0"/>
              <a:t> is the vector of n fitted points, so these are the predictions for the y values, given the set of input x values.</a:t>
            </a:r>
          </a:p>
          <a:p>
            <a:r>
              <a:rPr lang="en-US" dirty="0"/>
              <a:t> - In this image, we’ve got the </a:t>
            </a:r>
            <a:r>
              <a:rPr lang="en-US" dirty="0" err="1"/>
              <a:t>m_hats</a:t>
            </a:r>
            <a:r>
              <a:rPr lang="en-US" dirty="0"/>
              <a:t> pointing to the lines that are used to generate them. That’s not quite accurate, since these are both vectors in </a:t>
            </a:r>
            <a:r>
              <a:rPr lang="en-US" dirty="0" err="1"/>
              <a:t>R^n</a:t>
            </a:r>
            <a:r>
              <a:rPr lang="en-US" dirty="0"/>
              <a:t>.</a:t>
            </a:r>
          </a:p>
          <a:p>
            <a:r>
              <a:rPr lang="en-US" dirty="0"/>
              <a:t> - Because they are vectors, we can take the distance between the two vectors as a measure of how much excluding observation 40 has impacted the set of predictions.</a:t>
            </a:r>
          </a:p>
        </p:txBody>
      </p:sp>
      <p:sp>
        <p:nvSpPr>
          <p:cNvPr id="4" name="Slide Number Placeholder 3"/>
          <p:cNvSpPr>
            <a:spLocks noGrp="1"/>
          </p:cNvSpPr>
          <p:nvPr>
            <p:ph type="sldNum" sz="quarter" idx="5"/>
          </p:nvPr>
        </p:nvSpPr>
        <p:spPr/>
        <p:txBody>
          <a:bodyPr/>
          <a:lstStyle/>
          <a:p>
            <a:fld id="{F3463821-D469-459D-9663-6D31182CFD8F}" type="slidenum">
              <a:rPr lang="en-US" smtClean="0"/>
              <a:t>16</a:t>
            </a:fld>
            <a:endParaRPr lang="en-US"/>
          </a:p>
        </p:txBody>
      </p:sp>
    </p:spTree>
    <p:extLst>
      <p:ext uri="{BB962C8B-B14F-4D97-AF65-F5344CB8AC3E}">
        <p14:creationId xmlns:p14="http://schemas.microsoft.com/office/powerpoint/2010/main" val="33962761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a:t>
            </a:r>
            <a:r>
              <a:rPr lang="en-US" dirty="0" err="1"/>
              <a:t>e_i</a:t>
            </a:r>
            <a:r>
              <a:rPr lang="en-US" dirty="0"/>
              <a:t> is the </a:t>
            </a:r>
            <a:r>
              <a:rPr lang="en-US" dirty="0" err="1"/>
              <a:t>ith</a:t>
            </a:r>
            <a:r>
              <a:rPr lang="en-US" dirty="0"/>
              <a:t> residual</a:t>
            </a:r>
          </a:p>
        </p:txBody>
      </p:sp>
      <p:sp>
        <p:nvSpPr>
          <p:cNvPr id="4" name="Slide Number Placeholder 3"/>
          <p:cNvSpPr>
            <a:spLocks noGrp="1"/>
          </p:cNvSpPr>
          <p:nvPr>
            <p:ph type="sldNum" sz="quarter" idx="5"/>
          </p:nvPr>
        </p:nvSpPr>
        <p:spPr/>
        <p:txBody>
          <a:bodyPr/>
          <a:lstStyle/>
          <a:p>
            <a:fld id="{F3463821-D469-459D-9663-6D31182CFD8F}" type="slidenum">
              <a:rPr lang="en-US" smtClean="0"/>
              <a:t>17</a:t>
            </a:fld>
            <a:endParaRPr lang="en-US"/>
          </a:p>
        </p:txBody>
      </p:sp>
    </p:spTree>
    <p:extLst>
      <p:ext uri="{BB962C8B-B14F-4D97-AF65-F5344CB8AC3E}">
        <p14:creationId xmlns:p14="http://schemas.microsoft.com/office/powerpoint/2010/main" val="21036502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Again, R takes care of the math for us.</a:t>
            </a:r>
          </a:p>
          <a:p>
            <a:r>
              <a:rPr lang="en-US" dirty="0"/>
              <a:t> - Cook’s traditional threshold uses a </a:t>
            </a:r>
            <a:r>
              <a:rPr lang="en-US" dirty="0" err="1"/>
              <a:t>chi_squared</a:t>
            </a:r>
            <a:r>
              <a:rPr lang="en-US" dirty="0"/>
              <a:t> distribution with p+1 degrees of freedom and input 0.1, so that is what we stuck with here although there is no clear intuition behind the input of 0.1.</a:t>
            </a:r>
          </a:p>
          <a:p>
            <a:r>
              <a:rPr lang="en-US" dirty="0"/>
              <a:t> - Again, passing this function a model spits out the NDIDs and corresponding Cook’s Distance for those exceeding the threshold.</a:t>
            </a:r>
          </a:p>
        </p:txBody>
      </p:sp>
      <p:sp>
        <p:nvSpPr>
          <p:cNvPr id="4" name="Slide Number Placeholder 3"/>
          <p:cNvSpPr>
            <a:spLocks noGrp="1"/>
          </p:cNvSpPr>
          <p:nvPr>
            <p:ph type="sldNum" sz="quarter" idx="5"/>
          </p:nvPr>
        </p:nvSpPr>
        <p:spPr/>
        <p:txBody>
          <a:bodyPr/>
          <a:lstStyle/>
          <a:p>
            <a:fld id="{F3463821-D469-459D-9663-6D31182CFD8F}" type="slidenum">
              <a:rPr lang="en-US" smtClean="0"/>
              <a:t>18</a:t>
            </a:fld>
            <a:endParaRPr lang="en-US"/>
          </a:p>
        </p:txBody>
      </p:sp>
    </p:spTree>
    <p:extLst>
      <p:ext uri="{BB962C8B-B14F-4D97-AF65-F5344CB8AC3E}">
        <p14:creationId xmlns:p14="http://schemas.microsoft.com/office/powerpoint/2010/main" val="19729877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The influence excluding a point has on a single parameter, here the beta_0 and beta_1</a:t>
            </a:r>
          </a:p>
        </p:txBody>
      </p:sp>
      <p:sp>
        <p:nvSpPr>
          <p:cNvPr id="4" name="Slide Number Placeholder 3"/>
          <p:cNvSpPr>
            <a:spLocks noGrp="1"/>
          </p:cNvSpPr>
          <p:nvPr>
            <p:ph type="sldNum" sz="quarter" idx="5"/>
          </p:nvPr>
        </p:nvSpPr>
        <p:spPr/>
        <p:txBody>
          <a:bodyPr/>
          <a:lstStyle/>
          <a:p>
            <a:fld id="{F3463821-D469-459D-9663-6D31182CFD8F}" type="slidenum">
              <a:rPr lang="en-US" smtClean="0"/>
              <a:t>19</a:t>
            </a:fld>
            <a:endParaRPr lang="en-US"/>
          </a:p>
        </p:txBody>
      </p:sp>
    </p:spTree>
    <p:extLst>
      <p:ext uri="{BB962C8B-B14F-4D97-AF65-F5344CB8AC3E}">
        <p14:creationId xmlns:p14="http://schemas.microsoft.com/office/powerpoint/2010/main" val="10188777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The names feel kind of backwards to me since the top is a vector of the p+1 changes to the coefficients while the bottom is the standardized change to solely the </a:t>
            </a:r>
            <a:r>
              <a:rPr lang="en-US" dirty="0" err="1"/>
              <a:t>jth</a:t>
            </a:r>
            <a:r>
              <a:rPr lang="en-US" dirty="0"/>
              <a:t> coefficient</a:t>
            </a:r>
          </a:p>
          <a:p>
            <a:r>
              <a:rPr lang="en-US" dirty="0"/>
              <a:t> - The denominator in the standardized DFBETAS is essentially a standard error of \</a:t>
            </a:r>
            <a:r>
              <a:rPr lang="en-US" dirty="0" err="1"/>
              <a:t>beta_j</a:t>
            </a:r>
            <a:r>
              <a:rPr lang="en-US" dirty="0"/>
              <a:t> after ignoring the </a:t>
            </a:r>
            <a:r>
              <a:rPr lang="en-US" dirty="0" err="1"/>
              <a:t>ith</a:t>
            </a:r>
            <a:r>
              <a:rPr lang="en-US" dirty="0"/>
              <a:t> observation</a:t>
            </a:r>
          </a:p>
        </p:txBody>
      </p:sp>
      <p:sp>
        <p:nvSpPr>
          <p:cNvPr id="4" name="Slide Number Placeholder 3"/>
          <p:cNvSpPr>
            <a:spLocks noGrp="1"/>
          </p:cNvSpPr>
          <p:nvPr>
            <p:ph type="sldNum" sz="quarter" idx="5"/>
          </p:nvPr>
        </p:nvSpPr>
        <p:spPr/>
        <p:txBody>
          <a:bodyPr/>
          <a:lstStyle/>
          <a:p>
            <a:fld id="{F3463821-D469-459D-9663-6D31182CFD8F}" type="slidenum">
              <a:rPr lang="en-US" smtClean="0"/>
              <a:t>20</a:t>
            </a:fld>
            <a:endParaRPr lang="en-US"/>
          </a:p>
        </p:txBody>
      </p:sp>
    </p:spTree>
    <p:extLst>
      <p:ext uri="{BB962C8B-B14F-4D97-AF65-F5344CB8AC3E}">
        <p14:creationId xmlns:p14="http://schemas.microsoft.com/office/powerpoint/2010/main" val="10579003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Threshold is 2/sqrt(n)</a:t>
            </a:r>
          </a:p>
          <a:p>
            <a:r>
              <a:rPr lang="en-US" dirty="0"/>
              <a:t> - This function is a little more difficult to write since we also pass it the name for </a:t>
            </a:r>
            <a:r>
              <a:rPr lang="en-US" dirty="0" err="1"/>
              <a:t>X_j</a:t>
            </a:r>
            <a:endParaRPr lang="en-US" dirty="0"/>
          </a:p>
          <a:p>
            <a:r>
              <a:rPr lang="en-US" dirty="0"/>
              <a:t> - Our implementation would sometimes create a helper function having </a:t>
            </a:r>
            <a:r>
              <a:rPr lang="en-US" dirty="0" err="1"/>
              <a:t>X_j</a:t>
            </a:r>
            <a:r>
              <a:rPr lang="en-US" dirty="0"/>
              <a:t> fixed, in this example that is the female flag</a:t>
            </a:r>
          </a:p>
        </p:txBody>
      </p:sp>
      <p:sp>
        <p:nvSpPr>
          <p:cNvPr id="4" name="Slide Number Placeholder 3"/>
          <p:cNvSpPr>
            <a:spLocks noGrp="1"/>
          </p:cNvSpPr>
          <p:nvPr>
            <p:ph type="sldNum" sz="quarter" idx="5"/>
          </p:nvPr>
        </p:nvSpPr>
        <p:spPr/>
        <p:txBody>
          <a:bodyPr/>
          <a:lstStyle/>
          <a:p>
            <a:fld id="{F3463821-D469-459D-9663-6D31182CFD8F}" type="slidenum">
              <a:rPr lang="en-US" smtClean="0"/>
              <a:t>21</a:t>
            </a:fld>
            <a:endParaRPr lang="en-US"/>
          </a:p>
        </p:txBody>
      </p:sp>
    </p:spTree>
    <p:extLst>
      <p:ext uri="{BB962C8B-B14F-4D97-AF65-F5344CB8AC3E}">
        <p14:creationId xmlns:p14="http://schemas.microsoft.com/office/powerpoint/2010/main" val="3711106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And we get our usual output, just a few more bells and whistles, </a:t>
            </a:r>
          </a:p>
        </p:txBody>
      </p:sp>
      <p:sp>
        <p:nvSpPr>
          <p:cNvPr id="4" name="Slide Number Placeholder 3"/>
          <p:cNvSpPr>
            <a:spLocks noGrp="1"/>
          </p:cNvSpPr>
          <p:nvPr>
            <p:ph type="sldNum" sz="quarter" idx="5"/>
          </p:nvPr>
        </p:nvSpPr>
        <p:spPr/>
        <p:txBody>
          <a:bodyPr/>
          <a:lstStyle/>
          <a:p>
            <a:fld id="{F3463821-D469-459D-9663-6D31182CFD8F}" type="slidenum">
              <a:rPr lang="en-US" smtClean="0"/>
              <a:t>22</a:t>
            </a:fld>
            <a:endParaRPr lang="en-US"/>
          </a:p>
        </p:txBody>
      </p:sp>
    </p:spTree>
    <p:extLst>
      <p:ext uri="{BB962C8B-B14F-4D97-AF65-F5344CB8AC3E}">
        <p14:creationId xmlns:p14="http://schemas.microsoft.com/office/powerpoint/2010/main" val="22404815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463821-D469-459D-9663-6D31182CFD8F}" type="slidenum">
              <a:rPr lang="en-US" smtClean="0"/>
              <a:t>23</a:t>
            </a:fld>
            <a:endParaRPr lang="en-US"/>
          </a:p>
        </p:txBody>
      </p:sp>
    </p:spTree>
    <p:extLst>
      <p:ext uri="{BB962C8B-B14F-4D97-AF65-F5344CB8AC3E}">
        <p14:creationId xmlns:p14="http://schemas.microsoft.com/office/powerpoint/2010/main" val="7831080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463821-D469-459D-9663-6D31182CFD8F}" type="slidenum">
              <a:rPr lang="en-US" smtClean="0"/>
              <a:t>24</a:t>
            </a:fld>
            <a:endParaRPr lang="en-US"/>
          </a:p>
        </p:txBody>
      </p:sp>
    </p:spTree>
    <p:extLst>
      <p:ext uri="{BB962C8B-B14F-4D97-AF65-F5344CB8AC3E}">
        <p14:creationId xmlns:p14="http://schemas.microsoft.com/office/powerpoint/2010/main" val="5479403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463821-D469-459D-9663-6D31182CFD8F}" type="slidenum">
              <a:rPr lang="en-US" smtClean="0"/>
              <a:t>25</a:t>
            </a:fld>
            <a:endParaRPr lang="en-US"/>
          </a:p>
        </p:txBody>
      </p:sp>
    </p:spTree>
    <p:extLst>
      <p:ext uri="{BB962C8B-B14F-4D97-AF65-F5344CB8AC3E}">
        <p14:creationId xmlns:p14="http://schemas.microsoft.com/office/powerpoint/2010/main" val="16767664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463821-D469-459D-9663-6D31182CFD8F}" type="slidenum">
              <a:rPr lang="en-US" smtClean="0"/>
              <a:t>26</a:t>
            </a:fld>
            <a:endParaRPr lang="en-US"/>
          </a:p>
        </p:txBody>
      </p:sp>
    </p:spTree>
    <p:extLst>
      <p:ext uri="{BB962C8B-B14F-4D97-AF65-F5344CB8AC3E}">
        <p14:creationId xmlns:p14="http://schemas.microsoft.com/office/powerpoint/2010/main" val="26075198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743200" y="1981200"/>
            <a:ext cx="6172200" cy="1447800"/>
          </a:xfrm>
        </p:spPr>
        <p:txBody>
          <a:bodyPr>
            <a:noAutofit/>
          </a:bodyPr>
          <a:lstStyle>
            <a:lvl1pPr algn="l">
              <a:defRPr sz="4800">
                <a:solidFill>
                  <a:srgbClr val="B29142"/>
                </a:solidFill>
              </a:defRPr>
            </a:lvl1pPr>
          </a:lstStyle>
          <a:p>
            <a:r>
              <a:rPr lang="en-US" dirty="0"/>
              <a:t>Click to edit Master </a:t>
            </a:r>
            <a:br>
              <a:rPr lang="en-US" dirty="0"/>
            </a:br>
            <a:r>
              <a:rPr lang="en-US" dirty="0"/>
              <a:t>title style</a:t>
            </a:r>
          </a:p>
        </p:txBody>
      </p:sp>
      <p:sp>
        <p:nvSpPr>
          <p:cNvPr id="3" name="Subtitle 2"/>
          <p:cNvSpPr>
            <a:spLocks noGrp="1"/>
          </p:cNvSpPr>
          <p:nvPr>
            <p:ph type="subTitle" idx="1"/>
          </p:nvPr>
        </p:nvSpPr>
        <p:spPr>
          <a:xfrm>
            <a:off x="2743200" y="3505199"/>
            <a:ext cx="6172200" cy="1219199"/>
          </a:xfrm>
        </p:spPr>
        <p:txBody>
          <a:bodyPr>
            <a:normAutofit/>
          </a:bodyPr>
          <a:lstStyle>
            <a:lvl1pPr marL="0" indent="0" algn="l">
              <a:buNone/>
              <a:defRPr sz="2400">
                <a:solidFill>
                  <a:srgbClr val="0C223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Slide Number Placeholder 5">
            <a:extLst>
              <a:ext uri="{FF2B5EF4-FFF2-40B4-BE49-F238E27FC236}">
                <a16:creationId xmlns:a16="http://schemas.microsoft.com/office/drawing/2014/main" id="{C9C5F5A2-643F-4688-957B-A6DE5892D4C8}"/>
              </a:ext>
            </a:extLst>
          </p:cNvPr>
          <p:cNvSpPr>
            <a:spLocks noGrp="1"/>
          </p:cNvSpPr>
          <p:nvPr>
            <p:ph type="sldNum" sz="quarter" idx="10"/>
          </p:nvPr>
        </p:nvSpPr>
        <p:spPr/>
        <p:txBody>
          <a:bodyPr/>
          <a:lstStyle/>
          <a:p>
            <a:fld id="{255091D1-5EEB-484A-A1B5-A518DEFC21C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1066800"/>
            <a:ext cx="7620000" cy="808038"/>
          </a:xfrm>
        </p:spPr>
        <p:txBody>
          <a:bodyPr lIns="0"/>
          <a:lstStyle/>
          <a:p>
            <a:r>
              <a:rPr lang="en-US" dirty="0"/>
              <a:t>Click to edit Master title style</a:t>
            </a:r>
          </a:p>
        </p:txBody>
      </p:sp>
      <p:sp>
        <p:nvSpPr>
          <p:cNvPr id="3" name="Content Placeholder 2"/>
          <p:cNvSpPr>
            <a:spLocks noGrp="1"/>
          </p:cNvSpPr>
          <p:nvPr>
            <p:ph idx="1" hasCustomPrompt="1"/>
          </p:nvPr>
        </p:nvSpPr>
        <p:spPr>
          <a:xfrm>
            <a:off x="762000" y="1981200"/>
            <a:ext cx="7696200" cy="4602163"/>
          </a:xfrm>
        </p:spPr>
        <p:txBody>
          <a:bodyPr l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D023E152-29CB-499C-A7AE-3D9FA08A887A}"/>
              </a:ext>
            </a:extLst>
          </p:cNvPr>
          <p:cNvSpPr>
            <a:spLocks noGrp="1"/>
          </p:cNvSpPr>
          <p:nvPr>
            <p:ph type="sldNum" sz="quarter" idx="10"/>
          </p:nvPr>
        </p:nvSpPr>
        <p:spPr/>
        <p:txBody>
          <a:bodyPr/>
          <a:lstStyle/>
          <a:p>
            <a:fld id="{255091D1-5EEB-484A-A1B5-A518DEFC21C4}"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61391" y="1828800"/>
            <a:ext cx="7772400" cy="2057400"/>
          </a:xfrm>
        </p:spPr>
        <p:txBody>
          <a:bodyPr lIns="0" anchor="t">
            <a:normAutofit/>
          </a:bodyPr>
          <a:lstStyle>
            <a:lvl1pPr algn="l">
              <a:defRPr sz="5400" b="0" i="0" cap="none">
                <a:latin typeface="Georgia"/>
                <a:cs typeface="Georgia"/>
              </a:defRPr>
            </a:lvl1pPr>
          </a:lstStyle>
          <a:p>
            <a:r>
              <a:rPr lang="en-US" dirty="0"/>
              <a:t>Click to edit Master title style</a:t>
            </a:r>
          </a:p>
        </p:txBody>
      </p:sp>
      <p:sp>
        <p:nvSpPr>
          <p:cNvPr id="3" name="Text Placeholder 2"/>
          <p:cNvSpPr>
            <a:spLocks noGrp="1"/>
          </p:cNvSpPr>
          <p:nvPr>
            <p:ph type="body" idx="1" hasCustomPrompt="1"/>
          </p:nvPr>
        </p:nvSpPr>
        <p:spPr>
          <a:xfrm>
            <a:off x="838200" y="1295400"/>
            <a:ext cx="6858000" cy="457200"/>
          </a:xfrm>
        </p:spPr>
        <p:txBody>
          <a:bodyPr lIns="0" anchor="t" anchorCtr="0"/>
          <a:lstStyle>
            <a:lvl1pPr marL="0" indent="0">
              <a:buNone/>
              <a:defRPr sz="2000">
                <a:solidFill>
                  <a:srgbClr val="002B5C"/>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6" name="Slide Number Placeholder 5">
            <a:extLst>
              <a:ext uri="{FF2B5EF4-FFF2-40B4-BE49-F238E27FC236}">
                <a16:creationId xmlns:a16="http://schemas.microsoft.com/office/drawing/2014/main" id="{09639B62-52AC-44E7-92C7-C8E8AF3FF32A}"/>
              </a:ext>
            </a:extLst>
          </p:cNvPr>
          <p:cNvSpPr>
            <a:spLocks noGrp="1"/>
          </p:cNvSpPr>
          <p:nvPr>
            <p:ph type="sldNum" sz="quarter" idx="10"/>
          </p:nvPr>
        </p:nvSpPr>
        <p:spPr/>
        <p:txBody>
          <a:bodyPr/>
          <a:lstStyle/>
          <a:p>
            <a:fld id="{255091D1-5EEB-484A-A1B5-A518DEFC21C4}"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838200"/>
            <a:ext cx="7924799" cy="609600"/>
          </a:xfrm>
        </p:spPr>
        <p:txBody>
          <a:bodyPr lIns="0" anchor="t" anchorCtr="0"/>
          <a:lstStyle/>
          <a:p>
            <a:r>
              <a:rPr lang="en-US" dirty="0"/>
              <a:t>Click to edit Master title style</a:t>
            </a:r>
          </a:p>
        </p:txBody>
      </p:sp>
      <p:sp>
        <p:nvSpPr>
          <p:cNvPr id="3" name="Content Placeholder 2"/>
          <p:cNvSpPr>
            <a:spLocks noGrp="1"/>
          </p:cNvSpPr>
          <p:nvPr>
            <p:ph sz="half" idx="1" hasCustomPrompt="1"/>
          </p:nvPr>
        </p:nvSpPr>
        <p:spPr>
          <a:xfrm>
            <a:off x="762000" y="1600200"/>
            <a:ext cx="3886200" cy="4525963"/>
          </a:xfrm>
        </p:spPr>
        <p:txBody>
          <a:bodyPr lIns="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950068" y="1600200"/>
            <a:ext cx="3736731" cy="4525963"/>
          </a:xfrm>
        </p:spPr>
        <p:txBody>
          <a:bodyPr lIns="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73688FC-F543-48C9-8957-C125EA9D53E1}"/>
              </a:ext>
            </a:extLst>
          </p:cNvPr>
          <p:cNvSpPr>
            <a:spLocks noGrp="1"/>
          </p:cNvSpPr>
          <p:nvPr>
            <p:ph type="sldNum" sz="quarter" idx="10"/>
          </p:nvPr>
        </p:nvSpPr>
        <p:spPr/>
        <p:txBody>
          <a:bodyPr/>
          <a:lstStyle/>
          <a:p>
            <a:fld id="{255091D1-5EEB-484A-A1B5-A518DEFC21C4}"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792162"/>
            <a:ext cx="7924800" cy="808038"/>
          </a:xfrm>
        </p:spPr>
        <p:txBody>
          <a:bodyPr lIns="0"/>
          <a:lstStyle>
            <a:lvl1pPr>
              <a:defRPr/>
            </a:lvl1pPr>
          </a:lstStyle>
          <a:p>
            <a:r>
              <a:rPr lang="en-US" dirty="0"/>
              <a:t>Click to edit Master title style</a:t>
            </a:r>
          </a:p>
        </p:txBody>
      </p:sp>
      <p:sp>
        <p:nvSpPr>
          <p:cNvPr id="3" name="Text Placeholder 2"/>
          <p:cNvSpPr>
            <a:spLocks noGrp="1"/>
          </p:cNvSpPr>
          <p:nvPr>
            <p:ph type="body" idx="1" hasCustomPrompt="1"/>
          </p:nvPr>
        </p:nvSpPr>
        <p:spPr>
          <a:xfrm>
            <a:off x="762000" y="1809750"/>
            <a:ext cx="3962400" cy="639762"/>
          </a:xfrm>
        </p:spPr>
        <p:txBody>
          <a:bodyPr lIns="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hasCustomPrompt="1"/>
          </p:nvPr>
        </p:nvSpPr>
        <p:spPr>
          <a:xfrm>
            <a:off x="762000" y="2514600"/>
            <a:ext cx="3962400" cy="3765550"/>
          </a:xfrm>
        </p:spPr>
        <p:txBody>
          <a:bodyPr lIns="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4949945" y="1809750"/>
            <a:ext cx="3736855" cy="639762"/>
          </a:xfrm>
        </p:spPr>
        <p:txBody>
          <a:bodyPr lIns="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hasCustomPrompt="1"/>
          </p:nvPr>
        </p:nvSpPr>
        <p:spPr>
          <a:xfrm>
            <a:off x="4949945" y="2514600"/>
            <a:ext cx="3736855" cy="3765550"/>
          </a:xfrm>
        </p:spPr>
        <p:txBody>
          <a:bodyPr lIns="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53CC7043-6E8F-4795-8480-86B80E1E8320}"/>
              </a:ext>
            </a:extLst>
          </p:cNvPr>
          <p:cNvSpPr>
            <a:spLocks noGrp="1"/>
          </p:cNvSpPr>
          <p:nvPr>
            <p:ph type="sldNum" sz="quarter" idx="10"/>
          </p:nvPr>
        </p:nvSpPr>
        <p:spPr/>
        <p:txBody>
          <a:bodyPr/>
          <a:lstStyle/>
          <a:p>
            <a:fld id="{255091D1-5EEB-484A-A1B5-A518DEFC21C4}"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1352550"/>
            <a:ext cx="2703513" cy="552450"/>
          </a:xfrm>
        </p:spPr>
        <p:txBody>
          <a:bodyPr lIns="0" anchor="t" anchorCtr="0"/>
          <a:lstStyle>
            <a:lvl1pPr algn="l">
              <a:defRPr sz="2000" b="1"/>
            </a:lvl1pPr>
          </a:lstStyle>
          <a:p>
            <a:r>
              <a:rPr lang="en-US" dirty="0"/>
              <a:t>Click to edit Master title style</a:t>
            </a:r>
          </a:p>
        </p:txBody>
      </p:sp>
      <p:sp>
        <p:nvSpPr>
          <p:cNvPr id="3" name="Content Placeholder 2"/>
          <p:cNvSpPr>
            <a:spLocks noGrp="1"/>
          </p:cNvSpPr>
          <p:nvPr>
            <p:ph idx="1" hasCustomPrompt="1"/>
          </p:nvPr>
        </p:nvSpPr>
        <p:spPr>
          <a:xfrm>
            <a:off x="3581400" y="1352550"/>
            <a:ext cx="5105400" cy="4773613"/>
          </a:xfrm>
        </p:spPr>
        <p:txBody>
          <a:bodyPr lIns="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762000" y="2057400"/>
            <a:ext cx="2703513" cy="4068763"/>
          </a:xfrm>
        </p:spPr>
        <p:txBody>
          <a:bodyPr lIns="0"/>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a:extLst>
              <a:ext uri="{FF2B5EF4-FFF2-40B4-BE49-F238E27FC236}">
                <a16:creationId xmlns:a16="http://schemas.microsoft.com/office/drawing/2014/main" id="{2168B66E-839D-4E00-85EA-09D22594D686}"/>
              </a:ext>
            </a:extLst>
          </p:cNvPr>
          <p:cNvSpPr>
            <a:spLocks noGrp="1"/>
          </p:cNvSpPr>
          <p:nvPr>
            <p:ph type="sldNum" sz="quarter" idx="10"/>
          </p:nvPr>
        </p:nvSpPr>
        <p:spPr/>
        <p:txBody>
          <a:bodyPr/>
          <a:lstStyle/>
          <a:p>
            <a:fld id="{255091D1-5EEB-484A-A1B5-A518DEFC21C4}"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51334"/>
            <a:ext cx="1905000" cy="829866"/>
          </a:xfrm>
        </p:spPr>
        <p:txBody>
          <a:bodyPr lIns="0" anchor="b">
            <a:normAutofit/>
          </a:bodyPr>
          <a:lstStyle>
            <a:lvl1pPr algn="l">
              <a:defRPr sz="1800" b="1"/>
            </a:lvl1pPr>
          </a:lstStyle>
          <a:p>
            <a:r>
              <a:rPr lang="en-US" dirty="0"/>
              <a:t>Click to edit Master title style</a:t>
            </a:r>
          </a:p>
        </p:txBody>
      </p:sp>
      <p:sp>
        <p:nvSpPr>
          <p:cNvPr id="3" name="Picture Placeholder 2"/>
          <p:cNvSpPr>
            <a:spLocks noGrp="1"/>
          </p:cNvSpPr>
          <p:nvPr>
            <p:ph type="pic" idx="1"/>
          </p:nvPr>
        </p:nvSpPr>
        <p:spPr>
          <a:xfrm>
            <a:off x="2895600" y="1128142"/>
            <a:ext cx="5791200" cy="5262717"/>
          </a:xfrm>
        </p:spPr>
        <p:txBody>
          <a:bodyPr lIns="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hasCustomPrompt="1"/>
          </p:nvPr>
        </p:nvSpPr>
        <p:spPr>
          <a:xfrm>
            <a:off x="838200" y="2133599"/>
            <a:ext cx="1905000" cy="4257261"/>
          </a:xfrm>
        </p:spPr>
        <p:txBody>
          <a:bodyPr lIns="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a:extLst>
              <a:ext uri="{FF2B5EF4-FFF2-40B4-BE49-F238E27FC236}">
                <a16:creationId xmlns:a16="http://schemas.microsoft.com/office/drawing/2014/main" id="{81839115-F404-41FE-B205-B518CA815657}"/>
              </a:ext>
            </a:extLst>
          </p:cNvPr>
          <p:cNvSpPr>
            <a:spLocks noGrp="1"/>
          </p:cNvSpPr>
          <p:nvPr>
            <p:ph type="sldNum" sz="quarter" idx="10"/>
          </p:nvPr>
        </p:nvSpPr>
        <p:spPr/>
        <p:txBody>
          <a:bodyPr/>
          <a:lstStyle/>
          <a:p>
            <a:fld id="{255091D1-5EEB-484A-A1B5-A518DEFC21C4}"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3276600"/>
            <a:ext cx="5943600" cy="808038"/>
          </a:xfrm>
        </p:spPr>
        <p:txBody>
          <a:bodyPr lIns="0"/>
          <a:lstStyle/>
          <a:p>
            <a:r>
              <a:rPr lang="en-US" dirty="0"/>
              <a:t>Click to edit Master title style</a:t>
            </a:r>
          </a:p>
        </p:txBody>
      </p:sp>
      <p:sp>
        <p:nvSpPr>
          <p:cNvPr id="5" name="Slide Number Placeholder 4">
            <a:extLst>
              <a:ext uri="{FF2B5EF4-FFF2-40B4-BE49-F238E27FC236}">
                <a16:creationId xmlns:a16="http://schemas.microsoft.com/office/drawing/2014/main" id="{7140D12D-0F61-4A1C-ABEC-BC80FC873BAF}"/>
              </a:ext>
            </a:extLst>
          </p:cNvPr>
          <p:cNvSpPr>
            <a:spLocks noGrp="1"/>
          </p:cNvSpPr>
          <p:nvPr>
            <p:ph type="sldNum" sz="quarter" idx="10"/>
          </p:nvPr>
        </p:nvSpPr>
        <p:spPr/>
        <p:txBody>
          <a:bodyPr/>
          <a:lstStyle/>
          <a:p>
            <a:fld id="{255091D1-5EEB-484A-A1B5-A518DEFC21C4}"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F4ED47-CCFD-4481-A462-4F1A6895BF99}"/>
              </a:ext>
            </a:extLst>
          </p:cNvPr>
          <p:cNvSpPr>
            <a:spLocks noGrp="1"/>
          </p:cNvSpPr>
          <p:nvPr>
            <p:ph type="sldNum" sz="quarter" idx="10"/>
          </p:nvPr>
        </p:nvSpPr>
        <p:spPr/>
        <p:txBody>
          <a:bodyPr/>
          <a:lstStyle/>
          <a:p>
            <a:fld id="{255091D1-5EEB-484A-A1B5-A518DEFC21C4}"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891B316-FA41-4C52-A26D-1B38439D8600}"/>
              </a:ext>
            </a:extLst>
          </p:cNvPr>
          <p:cNvSpPr>
            <a:spLocks noGrp="1"/>
          </p:cNvSpPr>
          <p:nvPr>
            <p:ph type="sldNum" sz="quarter" idx="10"/>
          </p:nvPr>
        </p:nvSpPr>
        <p:spPr/>
        <p:txBody>
          <a:bodyPr/>
          <a:lstStyle/>
          <a:p>
            <a:fld id="{255091D1-5EEB-484A-A1B5-A518DEFC21C4}" type="slidenum">
              <a:rPr lang="en-US" smtClean="0"/>
              <a:pPr/>
              <a:t>‹#›</a:t>
            </a:fld>
            <a:endParaRPr lang="en-US" dirty="0"/>
          </a:p>
        </p:txBody>
      </p:sp>
    </p:spTree>
    <p:extLst>
      <p:ext uri="{BB962C8B-B14F-4D97-AF65-F5344CB8AC3E}">
        <p14:creationId xmlns:p14="http://schemas.microsoft.com/office/powerpoint/2010/main" val="3613838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2_Blank">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1C27B1-FAFC-45BE-8D67-291C8A2DC355}"/>
              </a:ext>
            </a:extLst>
          </p:cNvPr>
          <p:cNvSpPr>
            <a:spLocks noGrp="1"/>
          </p:cNvSpPr>
          <p:nvPr>
            <p:ph type="sldNum" sz="quarter" idx="10"/>
          </p:nvPr>
        </p:nvSpPr>
        <p:spPr/>
        <p:txBody>
          <a:bodyPr/>
          <a:lstStyle/>
          <a:p>
            <a:fld id="{255091D1-5EEB-484A-A1B5-A518DEFC21C4}" type="slidenum">
              <a:rPr lang="en-US" smtClean="0"/>
              <a:pPr/>
              <a:t>‹#›</a:t>
            </a:fld>
            <a:endParaRPr lang="en-US" dirty="0"/>
          </a:p>
        </p:txBody>
      </p:sp>
    </p:spTree>
    <p:extLst>
      <p:ext uri="{BB962C8B-B14F-4D97-AF65-F5344CB8AC3E}">
        <p14:creationId xmlns:p14="http://schemas.microsoft.com/office/powerpoint/2010/main" val="2277770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3200" y="609600"/>
            <a:ext cx="6096000" cy="80803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2743200" y="1524000"/>
            <a:ext cx="6096000" cy="46021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EAD0CBA4-073E-4B6D-ACC3-D56DBA9D5B19}"/>
              </a:ext>
            </a:extLst>
          </p:cNvPr>
          <p:cNvSpPr>
            <a:spLocks noGrp="1"/>
          </p:cNvSpPr>
          <p:nvPr>
            <p:ph type="sldNum" sz="quarter" idx="4"/>
          </p:nvPr>
        </p:nvSpPr>
        <p:spPr>
          <a:xfrm>
            <a:off x="8324850" y="6675870"/>
            <a:ext cx="819150" cy="168275"/>
          </a:xfrm>
          <a:prstGeom prst="rect">
            <a:avLst/>
          </a:prstGeom>
        </p:spPr>
        <p:txBody>
          <a:bodyPr vert="horz" lIns="91440" tIns="45720" rIns="91440" bIns="45720" rtlCol="0" anchor="ctr"/>
          <a:lstStyle>
            <a:lvl1pPr algn="r">
              <a:defRPr sz="1000">
                <a:solidFill>
                  <a:schemeClr val="tx1">
                    <a:tint val="75000"/>
                  </a:schemeClr>
                </a:solidFill>
              </a:defRPr>
            </a:lvl1pPr>
          </a:lstStyle>
          <a:p>
            <a:fld id="{255091D1-5EEB-484A-A1B5-A518DEFC21C4}"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6" r:id="rId6"/>
    <p:sldLayoutId id="2147483667" r:id="rId7"/>
    <p:sldLayoutId id="2147483664" r:id="rId8"/>
    <p:sldLayoutId id="2147483665" r:id="rId9"/>
    <p:sldLayoutId id="2147483668" r:id="rId10"/>
    <p:sldLayoutId id="2147483669" r:id="rId11"/>
  </p:sldLayoutIdLst>
  <p:hf hdr="0" ftr="0" dt="0"/>
  <p:txStyles>
    <p:titleStyle>
      <a:lvl1pPr algn="l" defTabSz="457200" rtl="0" eaLnBrk="1" latinLnBrk="0" hangingPunct="1">
        <a:spcBef>
          <a:spcPct val="0"/>
        </a:spcBef>
        <a:buNone/>
        <a:defRPr sz="4000" b="0" i="0" kern="1200">
          <a:solidFill>
            <a:srgbClr val="002B5C"/>
          </a:solidFill>
          <a:latin typeface="Georgia"/>
          <a:ea typeface="+mj-ea"/>
          <a:cs typeface="Georgia"/>
        </a:defRPr>
      </a:lvl1pPr>
    </p:titleStyle>
    <p:bodyStyle>
      <a:lvl1pPr marL="342900" indent="-342900" algn="l" defTabSz="457200" rtl="0" eaLnBrk="1" latinLnBrk="0" hangingPunct="1">
        <a:spcBef>
          <a:spcPct val="20000"/>
        </a:spcBef>
        <a:buFont typeface="Arial"/>
        <a:buChar char="•"/>
        <a:defRPr sz="2800" b="0" i="0" kern="1200">
          <a:solidFill>
            <a:srgbClr val="002B5C"/>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002B5C"/>
          </a:solidFill>
          <a:latin typeface="Georgia"/>
          <a:ea typeface="+mn-ea"/>
          <a:cs typeface="Georgia"/>
        </a:defRPr>
      </a:lvl2pPr>
      <a:lvl3pPr marL="1143000" indent="-228600" algn="l" defTabSz="457200" rtl="0" eaLnBrk="1" latinLnBrk="0" hangingPunct="1">
        <a:spcBef>
          <a:spcPct val="20000"/>
        </a:spcBef>
        <a:buFont typeface="Arial"/>
        <a:buChar char="•"/>
        <a:defRPr sz="1800" b="0" i="0" kern="1200">
          <a:solidFill>
            <a:srgbClr val="002B5C"/>
          </a:solidFill>
          <a:latin typeface="Arial"/>
          <a:ea typeface="+mn-ea"/>
          <a:cs typeface="Arial"/>
        </a:defRPr>
      </a:lvl3pPr>
      <a:lvl4pPr marL="1600200" indent="-228600" algn="l" defTabSz="457200" rtl="0" eaLnBrk="1" latinLnBrk="0" hangingPunct="1">
        <a:spcBef>
          <a:spcPct val="20000"/>
        </a:spcBef>
        <a:buFont typeface="Arial"/>
        <a:buChar char="–"/>
        <a:defRPr sz="1400" b="0" i="0" kern="1200">
          <a:solidFill>
            <a:srgbClr val="002B5C"/>
          </a:solidFill>
          <a:latin typeface="Georgia"/>
          <a:ea typeface="+mn-ea"/>
          <a:cs typeface="Georgia"/>
        </a:defRPr>
      </a:lvl4pPr>
      <a:lvl5pPr marL="2057400" indent="-228600" algn="l" defTabSz="457200" rtl="0" eaLnBrk="1" latinLnBrk="0" hangingPunct="1">
        <a:spcBef>
          <a:spcPct val="20000"/>
        </a:spcBef>
        <a:buFont typeface="Arial"/>
        <a:buChar char="»"/>
        <a:defRPr sz="1200" b="0" i="0" kern="1200">
          <a:solidFill>
            <a:srgbClr val="002B5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11.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39.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2EA3F-08A7-104D-8CDA-CCCCE1CD9D1A}"/>
              </a:ext>
            </a:extLst>
          </p:cNvPr>
          <p:cNvSpPr>
            <a:spLocks noGrp="1"/>
          </p:cNvSpPr>
          <p:nvPr>
            <p:ph type="ctrTitle"/>
          </p:nvPr>
        </p:nvSpPr>
        <p:spPr>
          <a:xfrm>
            <a:off x="2514600" y="1981200"/>
            <a:ext cx="6400800" cy="1447800"/>
          </a:xfrm>
        </p:spPr>
        <p:txBody>
          <a:bodyPr/>
          <a:lstStyle/>
          <a:p>
            <a:r>
              <a:rPr lang="en-US" sz="3600" dirty="0"/>
              <a:t>Regression Diagnostics for Salary Equity Modeling</a:t>
            </a:r>
          </a:p>
        </p:txBody>
      </p:sp>
      <p:sp>
        <p:nvSpPr>
          <p:cNvPr id="4" name="Title 1">
            <a:extLst>
              <a:ext uri="{FF2B5EF4-FFF2-40B4-BE49-F238E27FC236}">
                <a16:creationId xmlns:a16="http://schemas.microsoft.com/office/drawing/2014/main" id="{CE1ED307-921C-49E2-949F-15B875FB3AC7}"/>
              </a:ext>
            </a:extLst>
          </p:cNvPr>
          <p:cNvSpPr txBox="1">
            <a:spLocks/>
          </p:cNvSpPr>
          <p:nvPr/>
        </p:nvSpPr>
        <p:spPr>
          <a:xfrm>
            <a:off x="2514600" y="2971800"/>
            <a:ext cx="6400800" cy="1447800"/>
          </a:xfrm>
          <a:prstGeom prst="rect">
            <a:avLst/>
          </a:prstGeom>
        </p:spPr>
        <p:txBody>
          <a:bodyPr vert="horz" lIns="91440" tIns="45720" rIns="91440" bIns="45720" rtlCol="0" anchor="ctr">
            <a:noAutofit/>
          </a:bodyPr>
          <a:lstStyle>
            <a:lvl1pPr algn="l" defTabSz="457200" rtl="0" eaLnBrk="1" latinLnBrk="0" hangingPunct="1">
              <a:spcBef>
                <a:spcPct val="0"/>
              </a:spcBef>
              <a:buNone/>
              <a:defRPr sz="4800" b="0" i="0" kern="1200">
                <a:solidFill>
                  <a:srgbClr val="B29142"/>
                </a:solidFill>
                <a:latin typeface="Georgia"/>
                <a:ea typeface="+mj-ea"/>
                <a:cs typeface="Georgia"/>
              </a:defRPr>
            </a:lvl1pPr>
          </a:lstStyle>
          <a:p>
            <a:r>
              <a:rPr lang="en-US" sz="1800" dirty="0"/>
              <a:t>M. Gunty, A. Lanski, S. VanDenDriessche*</a:t>
            </a:r>
          </a:p>
        </p:txBody>
      </p:sp>
      <p:sp>
        <p:nvSpPr>
          <p:cNvPr id="5" name="Title 1">
            <a:extLst>
              <a:ext uri="{FF2B5EF4-FFF2-40B4-BE49-F238E27FC236}">
                <a16:creationId xmlns:a16="http://schemas.microsoft.com/office/drawing/2014/main" id="{4A08E044-88A4-49B7-B1B8-E84D3BE08A7D}"/>
              </a:ext>
            </a:extLst>
          </p:cNvPr>
          <p:cNvSpPr txBox="1">
            <a:spLocks/>
          </p:cNvSpPr>
          <p:nvPr/>
        </p:nvSpPr>
        <p:spPr>
          <a:xfrm>
            <a:off x="2514600" y="3695700"/>
            <a:ext cx="6400800" cy="647700"/>
          </a:xfrm>
          <a:prstGeom prst="rect">
            <a:avLst/>
          </a:prstGeom>
        </p:spPr>
        <p:txBody>
          <a:bodyPr vert="horz" lIns="91440" tIns="45720" rIns="91440" bIns="45720" rtlCol="0" anchor="ctr">
            <a:noAutofit/>
          </a:bodyPr>
          <a:lstStyle>
            <a:lvl1pPr algn="l" defTabSz="457200" rtl="0" eaLnBrk="1" latinLnBrk="0" hangingPunct="1">
              <a:spcBef>
                <a:spcPct val="0"/>
              </a:spcBef>
              <a:buNone/>
              <a:defRPr sz="4800" b="0" i="0" kern="1200">
                <a:solidFill>
                  <a:srgbClr val="B29142"/>
                </a:solidFill>
                <a:latin typeface="Georgia"/>
                <a:ea typeface="+mj-ea"/>
                <a:cs typeface="Georgia"/>
              </a:defRPr>
            </a:lvl1pPr>
          </a:lstStyle>
          <a:p>
            <a:r>
              <a:rPr lang="en-US" sz="1800" dirty="0"/>
              <a:t>INAIR - March 24, 2022</a:t>
            </a:r>
          </a:p>
        </p:txBody>
      </p:sp>
    </p:spTree>
    <p:extLst>
      <p:ext uri="{BB962C8B-B14F-4D97-AF65-F5344CB8AC3E}">
        <p14:creationId xmlns:p14="http://schemas.microsoft.com/office/powerpoint/2010/main" val="3013224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a:t>The Motivation</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2</a:t>
            </a:fld>
            <a:endParaRPr lang="en-US"/>
          </a:p>
        </p:txBody>
      </p:sp>
      <p:sp>
        <p:nvSpPr>
          <p:cNvPr id="6" name="Title 1">
            <a:extLst>
              <a:ext uri="{FF2B5EF4-FFF2-40B4-BE49-F238E27FC236}">
                <a16:creationId xmlns:a16="http://schemas.microsoft.com/office/drawing/2014/main" id="{846B6ED4-FF3E-41A0-BF8B-E8078567F762}"/>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Background</a:t>
            </a:r>
          </a:p>
        </p:txBody>
      </p:sp>
      <p:sp>
        <p:nvSpPr>
          <p:cNvPr id="10" name="Content Placeholder 9">
            <a:extLst>
              <a:ext uri="{FF2B5EF4-FFF2-40B4-BE49-F238E27FC236}">
                <a16:creationId xmlns:a16="http://schemas.microsoft.com/office/drawing/2014/main" id="{261B6347-B1EE-4960-86F6-C2955E49146E}"/>
              </a:ext>
            </a:extLst>
          </p:cNvPr>
          <p:cNvSpPr>
            <a:spLocks noGrp="1"/>
          </p:cNvSpPr>
          <p:nvPr>
            <p:ph idx="1"/>
          </p:nvPr>
        </p:nvSpPr>
        <p:spPr>
          <a:xfrm>
            <a:off x="685800" y="3048000"/>
            <a:ext cx="7696200" cy="3429000"/>
          </a:xfrm>
        </p:spPr>
        <p:txBody>
          <a:bodyPr>
            <a:normAutofit/>
          </a:bodyPr>
          <a:lstStyle/>
          <a:p>
            <a:r>
              <a:rPr lang="en-US" dirty="0"/>
              <a:t>Why a linear model?</a:t>
            </a:r>
          </a:p>
          <a:p>
            <a:pPr lvl="1"/>
            <a:r>
              <a:rPr lang="en-US" dirty="0"/>
              <a:t>Linear models for salary prediction are well studied and easily understood.</a:t>
            </a:r>
          </a:p>
          <a:p>
            <a:pPr lvl="1"/>
            <a:r>
              <a:rPr lang="en-US" dirty="0"/>
              <a:t>They are particularly well-suited to equity studies, due to their </a:t>
            </a:r>
            <a:r>
              <a:rPr lang="en-US" i="1" dirty="0"/>
              <a:t>“other things equal”</a:t>
            </a:r>
            <a:r>
              <a:rPr lang="en-US" dirty="0"/>
              <a:t> calculation.</a:t>
            </a:r>
          </a:p>
          <a:p>
            <a:pPr lvl="1"/>
            <a:r>
              <a:rPr lang="en-US" dirty="0"/>
              <a:t>Explicit coefficients and their corresponding significance allow for an easy approach to </a:t>
            </a:r>
            <a:r>
              <a:rPr lang="en-US" i="1" dirty="0"/>
              <a:t>inference</a:t>
            </a:r>
            <a:r>
              <a:rPr lang="en-US" dirty="0"/>
              <a:t> regarding equity assessment.</a:t>
            </a:r>
          </a:p>
        </p:txBody>
      </p:sp>
      <p:sp>
        <p:nvSpPr>
          <p:cNvPr id="11" name="Content Placeholder 9">
            <a:extLst>
              <a:ext uri="{FF2B5EF4-FFF2-40B4-BE49-F238E27FC236}">
                <a16:creationId xmlns:a16="http://schemas.microsoft.com/office/drawing/2014/main" id="{E221714F-B29B-4380-A84E-547680809E6A}"/>
              </a:ext>
            </a:extLst>
          </p:cNvPr>
          <p:cNvSpPr txBox="1">
            <a:spLocks/>
          </p:cNvSpPr>
          <p:nvPr/>
        </p:nvSpPr>
        <p:spPr>
          <a:xfrm>
            <a:off x="685800" y="1752601"/>
            <a:ext cx="7734300" cy="1066799"/>
          </a:xfrm>
          <a:prstGeom prst="rect">
            <a:avLst/>
          </a:prstGeom>
        </p:spPr>
        <p:txBody>
          <a:bodyPr vert="horz" lIns="0" tIns="45720" rIns="91440" bIns="45720" rtlCol="0">
            <a:normAutofit/>
          </a:bodyPr>
          <a:lstStyle>
            <a:lvl1pPr marL="342900" indent="-342900" algn="l" defTabSz="457200" rtl="0" eaLnBrk="1" latinLnBrk="0" hangingPunct="1">
              <a:spcBef>
                <a:spcPct val="20000"/>
              </a:spcBef>
              <a:buFont typeface="Arial"/>
              <a:buChar char="•"/>
              <a:defRPr sz="2800" b="0" i="0" kern="1200">
                <a:solidFill>
                  <a:srgbClr val="002B5C"/>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002B5C"/>
                </a:solidFill>
                <a:latin typeface="Georgia"/>
                <a:ea typeface="+mn-ea"/>
                <a:cs typeface="Georgia"/>
              </a:defRPr>
            </a:lvl2pPr>
            <a:lvl3pPr marL="1143000" indent="-228600" algn="l" defTabSz="457200" rtl="0" eaLnBrk="1" latinLnBrk="0" hangingPunct="1">
              <a:spcBef>
                <a:spcPct val="20000"/>
              </a:spcBef>
              <a:buFont typeface="Arial"/>
              <a:buChar char="•"/>
              <a:defRPr sz="1800" b="0" i="0" kern="1200">
                <a:solidFill>
                  <a:srgbClr val="002B5C"/>
                </a:solidFill>
                <a:latin typeface="Arial"/>
                <a:ea typeface="+mn-ea"/>
                <a:cs typeface="Arial"/>
              </a:defRPr>
            </a:lvl3pPr>
            <a:lvl4pPr marL="1600200" indent="-228600" algn="l" defTabSz="457200" rtl="0" eaLnBrk="1" latinLnBrk="0" hangingPunct="1">
              <a:spcBef>
                <a:spcPct val="20000"/>
              </a:spcBef>
              <a:buFont typeface="Arial"/>
              <a:buChar char="–"/>
              <a:defRPr sz="1400" b="0" i="0" kern="1200">
                <a:solidFill>
                  <a:srgbClr val="002B5C"/>
                </a:solidFill>
                <a:latin typeface="Georgia"/>
                <a:ea typeface="+mn-ea"/>
                <a:cs typeface="Georgia"/>
              </a:defRPr>
            </a:lvl4pPr>
            <a:lvl5pPr marL="2057400" indent="-228600" algn="l" defTabSz="457200" rtl="0" eaLnBrk="1" latinLnBrk="0" hangingPunct="1">
              <a:spcBef>
                <a:spcPct val="20000"/>
              </a:spcBef>
              <a:buFont typeface="Arial"/>
              <a:buChar char="»"/>
              <a:defRPr sz="1200" b="0" i="0" kern="1200">
                <a:solidFill>
                  <a:srgbClr val="002B5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i="1" dirty="0"/>
              <a:t>Question</a:t>
            </a:r>
            <a:r>
              <a:rPr lang="en-US" dirty="0"/>
              <a:t>: Are faculty members paid equitably across various demographic categories?</a:t>
            </a:r>
          </a:p>
        </p:txBody>
      </p:sp>
    </p:spTree>
    <p:extLst>
      <p:ext uri="{BB962C8B-B14F-4D97-AF65-F5344CB8AC3E}">
        <p14:creationId xmlns:p14="http://schemas.microsoft.com/office/powerpoint/2010/main" val="4022550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a:t>A Quick Review</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3</a:t>
            </a:fld>
            <a:endParaRPr lang="en-US"/>
          </a:p>
        </p:txBody>
      </p:sp>
      <p:sp>
        <p:nvSpPr>
          <p:cNvPr id="6" name="Title 1">
            <a:extLst>
              <a:ext uri="{FF2B5EF4-FFF2-40B4-BE49-F238E27FC236}">
                <a16:creationId xmlns:a16="http://schemas.microsoft.com/office/drawing/2014/main" id="{846B6ED4-FF3E-41A0-BF8B-E8078567F762}"/>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Background</a:t>
            </a:r>
          </a:p>
        </p:txBody>
      </p:sp>
      <p:pic>
        <p:nvPicPr>
          <p:cNvPr id="7" name="Picture 6">
            <a:extLst>
              <a:ext uri="{FF2B5EF4-FFF2-40B4-BE49-F238E27FC236}">
                <a16:creationId xmlns:a16="http://schemas.microsoft.com/office/drawing/2014/main" id="{9214C485-B595-46A4-914A-47B3704F9CB0}"/>
              </a:ext>
            </a:extLst>
          </p:cNvPr>
          <p:cNvPicPr>
            <a:picLocks noChangeAspect="1"/>
          </p:cNvPicPr>
          <p:nvPr/>
        </p:nvPicPr>
        <p:blipFill>
          <a:blip r:embed="rId3"/>
          <a:stretch>
            <a:fillRect/>
          </a:stretch>
        </p:blipFill>
        <p:spPr>
          <a:xfrm>
            <a:off x="1752600" y="1570038"/>
            <a:ext cx="5410200" cy="3533775"/>
          </a:xfrm>
          <a:prstGeom prst="rect">
            <a:avLst/>
          </a:prstGeom>
        </p:spPr>
      </p:pic>
      <p:cxnSp>
        <p:nvCxnSpPr>
          <p:cNvPr id="14" name="Straight Arrow Connector 13">
            <a:extLst>
              <a:ext uri="{FF2B5EF4-FFF2-40B4-BE49-F238E27FC236}">
                <a16:creationId xmlns:a16="http://schemas.microsoft.com/office/drawing/2014/main" id="{63CBEE1C-BDF8-488A-BFBF-9155574A4128}"/>
              </a:ext>
            </a:extLst>
          </p:cNvPr>
          <p:cNvCxnSpPr/>
          <p:nvPr/>
        </p:nvCxnSpPr>
        <p:spPr>
          <a:xfrm>
            <a:off x="4343400" y="5516562"/>
            <a:ext cx="6858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7B504FD6-D0B2-40DF-8B76-B147A36F5583}"/>
              </a:ext>
            </a:extLst>
          </p:cNvPr>
          <p:cNvPicPr>
            <a:picLocks noChangeAspect="1"/>
          </p:cNvPicPr>
          <p:nvPr/>
        </p:nvPicPr>
        <p:blipFill>
          <a:blip r:embed="rId4"/>
          <a:stretch>
            <a:fillRect/>
          </a:stretch>
        </p:blipFill>
        <p:spPr>
          <a:xfrm>
            <a:off x="1628775" y="5249862"/>
            <a:ext cx="2486025" cy="533400"/>
          </a:xfrm>
          <a:prstGeom prst="rect">
            <a:avLst/>
          </a:prstGeom>
        </p:spPr>
      </p:pic>
      <p:pic>
        <p:nvPicPr>
          <p:cNvPr id="17" name="Picture 16">
            <a:extLst>
              <a:ext uri="{FF2B5EF4-FFF2-40B4-BE49-F238E27FC236}">
                <a16:creationId xmlns:a16="http://schemas.microsoft.com/office/drawing/2014/main" id="{86AD3C76-EA9E-479D-A1B1-50ADBADA5A2F}"/>
              </a:ext>
            </a:extLst>
          </p:cNvPr>
          <p:cNvPicPr>
            <a:picLocks noChangeAspect="1"/>
          </p:cNvPicPr>
          <p:nvPr/>
        </p:nvPicPr>
        <p:blipFill>
          <a:blip r:embed="rId5"/>
          <a:stretch>
            <a:fillRect/>
          </a:stretch>
        </p:blipFill>
        <p:spPr>
          <a:xfrm>
            <a:off x="5257800" y="5253614"/>
            <a:ext cx="1781175" cy="533400"/>
          </a:xfrm>
          <a:prstGeom prst="rect">
            <a:avLst/>
          </a:prstGeom>
        </p:spPr>
      </p:pic>
      <p:pic>
        <p:nvPicPr>
          <p:cNvPr id="3" name="Picture 2">
            <a:extLst>
              <a:ext uri="{FF2B5EF4-FFF2-40B4-BE49-F238E27FC236}">
                <a16:creationId xmlns:a16="http://schemas.microsoft.com/office/drawing/2014/main" id="{9109937A-88CA-473D-99F9-431F9631DEB6}"/>
              </a:ext>
            </a:extLst>
          </p:cNvPr>
          <p:cNvPicPr>
            <a:picLocks noChangeAspect="1"/>
          </p:cNvPicPr>
          <p:nvPr/>
        </p:nvPicPr>
        <p:blipFill>
          <a:blip r:embed="rId6"/>
          <a:stretch>
            <a:fillRect/>
          </a:stretch>
        </p:blipFill>
        <p:spPr>
          <a:xfrm>
            <a:off x="457200" y="6409531"/>
            <a:ext cx="2105974" cy="319087"/>
          </a:xfrm>
          <a:prstGeom prst="rect">
            <a:avLst/>
          </a:prstGeom>
        </p:spPr>
      </p:pic>
    </p:spTree>
    <p:extLst>
      <p:ext uri="{BB962C8B-B14F-4D97-AF65-F5344CB8AC3E}">
        <p14:creationId xmlns:p14="http://schemas.microsoft.com/office/powerpoint/2010/main" val="2231143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a:t>A Quick Review</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4</a:t>
            </a:fld>
            <a:endParaRPr lang="en-US"/>
          </a:p>
        </p:txBody>
      </p:sp>
      <p:sp>
        <p:nvSpPr>
          <p:cNvPr id="6" name="Title 1">
            <a:extLst>
              <a:ext uri="{FF2B5EF4-FFF2-40B4-BE49-F238E27FC236}">
                <a16:creationId xmlns:a16="http://schemas.microsoft.com/office/drawing/2014/main" id="{846B6ED4-FF3E-41A0-BF8B-E8078567F762}"/>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Background</a:t>
            </a:r>
          </a:p>
        </p:txBody>
      </p:sp>
      <p:pic>
        <p:nvPicPr>
          <p:cNvPr id="7" name="Picture 6">
            <a:extLst>
              <a:ext uri="{FF2B5EF4-FFF2-40B4-BE49-F238E27FC236}">
                <a16:creationId xmlns:a16="http://schemas.microsoft.com/office/drawing/2014/main" id="{9214C485-B595-46A4-914A-47B3704F9CB0}"/>
              </a:ext>
            </a:extLst>
          </p:cNvPr>
          <p:cNvPicPr>
            <a:picLocks noChangeAspect="1"/>
          </p:cNvPicPr>
          <p:nvPr/>
        </p:nvPicPr>
        <p:blipFill>
          <a:blip r:embed="rId3"/>
          <a:stretch>
            <a:fillRect/>
          </a:stretch>
        </p:blipFill>
        <p:spPr>
          <a:xfrm>
            <a:off x="1752600" y="1570038"/>
            <a:ext cx="5410200" cy="3533775"/>
          </a:xfrm>
          <a:prstGeom prst="rect">
            <a:avLst/>
          </a:prstGeom>
        </p:spPr>
      </p:pic>
      <p:pic>
        <p:nvPicPr>
          <p:cNvPr id="3" name="Picture 2">
            <a:extLst>
              <a:ext uri="{FF2B5EF4-FFF2-40B4-BE49-F238E27FC236}">
                <a16:creationId xmlns:a16="http://schemas.microsoft.com/office/drawing/2014/main" id="{C9003D6E-0052-4AAB-BC0D-3841E4E172BA}"/>
              </a:ext>
            </a:extLst>
          </p:cNvPr>
          <p:cNvPicPr>
            <a:picLocks noChangeAspect="1"/>
          </p:cNvPicPr>
          <p:nvPr/>
        </p:nvPicPr>
        <p:blipFill>
          <a:blip r:embed="rId4"/>
          <a:stretch>
            <a:fillRect/>
          </a:stretch>
        </p:blipFill>
        <p:spPr>
          <a:xfrm>
            <a:off x="1219200" y="4953000"/>
            <a:ext cx="1371600" cy="1400175"/>
          </a:xfrm>
          <a:prstGeom prst="rect">
            <a:avLst/>
          </a:prstGeom>
        </p:spPr>
      </p:pic>
      <p:pic>
        <p:nvPicPr>
          <p:cNvPr id="8" name="Picture 7">
            <a:extLst>
              <a:ext uri="{FF2B5EF4-FFF2-40B4-BE49-F238E27FC236}">
                <a16:creationId xmlns:a16="http://schemas.microsoft.com/office/drawing/2014/main" id="{F1D4D918-4F82-4A7E-A457-89E0FBD267CD}"/>
              </a:ext>
            </a:extLst>
          </p:cNvPr>
          <p:cNvPicPr>
            <a:picLocks noChangeAspect="1"/>
          </p:cNvPicPr>
          <p:nvPr/>
        </p:nvPicPr>
        <p:blipFill>
          <a:blip r:embed="rId5"/>
          <a:stretch>
            <a:fillRect/>
          </a:stretch>
        </p:blipFill>
        <p:spPr>
          <a:xfrm>
            <a:off x="2624282" y="5329237"/>
            <a:ext cx="1190625" cy="647700"/>
          </a:xfrm>
          <a:prstGeom prst="rect">
            <a:avLst/>
          </a:prstGeom>
        </p:spPr>
      </p:pic>
      <p:pic>
        <p:nvPicPr>
          <p:cNvPr id="9" name="Picture 8">
            <a:extLst>
              <a:ext uri="{FF2B5EF4-FFF2-40B4-BE49-F238E27FC236}">
                <a16:creationId xmlns:a16="http://schemas.microsoft.com/office/drawing/2014/main" id="{CE18F1A2-2761-439B-9E92-36C772CFF6A9}"/>
              </a:ext>
            </a:extLst>
          </p:cNvPr>
          <p:cNvPicPr>
            <a:picLocks noChangeAspect="1"/>
          </p:cNvPicPr>
          <p:nvPr/>
        </p:nvPicPr>
        <p:blipFill>
          <a:blip r:embed="rId6"/>
          <a:stretch>
            <a:fillRect/>
          </a:stretch>
        </p:blipFill>
        <p:spPr>
          <a:xfrm>
            <a:off x="4114800" y="5014912"/>
            <a:ext cx="1562100" cy="1276350"/>
          </a:xfrm>
          <a:prstGeom prst="rect">
            <a:avLst/>
          </a:prstGeom>
        </p:spPr>
      </p:pic>
      <p:cxnSp>
        <p:nvCxnSpPr>
          <p:cNvPr id="13" name="Straight Arrow Connector 12">
            <a:extLst>
              <a:ext uri="{FF2B5EF4-FFF2-40B4-BE49-F238E27FC236}">
                <a16:creationId xmlns:a16="http://schemas.microsoft.com/office/drawing/2014/main" id="{623FFCC6-8108-4018-8388-717FB647A109}"/>
              </a:ext>
            </a:extLst>
          </p:cNvPr>
          <p:cNvCxnSpPr/>
          <p:nvPr/>
        </p:nvCxnSpPr>
        <p:spPr>
          <a:xfrm>
            <a:off x="6019800" y="5638800"/>
            <a:ext cx="6858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0" name="Picture 9">
            <a:extLst>
              <a:ext uri="{FF2B5EF4-FFF2-40B4-BE49-F238E27FC236}">
                <a16:creationId xmlns:a16="http://schemas.microsoft.com/office/drawing/2014/main" id="{56C99B92-A9F5-4EC2-9CC8-714A83130B8A}"/>
              </a:ext>
            </a:extLst>
          </p:cNvPr>
          <p:cNvPicPr>
            <a:picLocks noChangeAspect="1"/>
          </p:cNvPicPr>
          <p:nvPr/>
        </p:nvPicPr>
        <p:blipFill>
          <a:blip r:embed="rId7"/>
          <a:stretch>
            <a:fillRect/>
          </a:stretch>
        </p:blipFill>
        <p:spPr>
          <a:xfrm>
            <a:off x="6934200" y="5443537"/>
            <a:ext cx="923925" cy="390525"/>
          </a:xfrm>
          <a:prstGeom prst="rect">
            <a:avLst/>
          </a:prstGeom>
        </p:spPr>
      </p:pic>
      <p:pic>
        <p:nvPicPr>
          <p:cNvPr id="11" name="Picture 10">
            <a:extLst>
              <a:ext uri="{FF2B5EF4-FFF2-40B4-BE49-F238E27FC236}">
                <a16:creationId xmlns:a16="http://schemas.microsoft.com/office/drawing/2014/main" id="{0AE9F1BF-08E9-4C43-B613-982AC4F2E8DF}"/>
              </a:ext>
            </a:extLst>
          </p:cNvPr>
          <p:cNvPicPr>
            <a:picLocks noChangeAspect="1"/>
          </p:cNvPicPr>
          <p:nvPr/>
        </p:nvPicPr>
        <p:blipFill>
          <a:blip r:embed="rId8"/>
          <a:stretch>
            <a:fillRect/>
          </a:stretch>
        </p:blipFill>
        <p:spPr>
          <a:xfrm>
            <a:off x="457200" y="6409531"/>
            <a:ext cx="2105974" cy="319087"/>
          </a:xfrm>
          <a:prstGeom prst="rect">
            <a:avLst/>
          </a:prstGeom>
        </p:spPr>
      </p:pic>
    </p:spTree>
    <p:extLst>
      <p:ext uri="{BB962C8B-B14F-4D97-AF65-F5344CB8AC3E}">
        <p14:creationId xmlns:p14="http://schemas.microsoft.com/office/powerpoint/2010/main" val="3916820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251562-FECE-45A3-BD30-552BEB95AB9B}"/>
              </a:ext>
            </a:extLst>
          </p:cNvPr>
          <p:cNvPicPr>
            <a:picLocks noChangeAspect="1"/>
          </p:cNvPicPr>
          <p:nvPr/>
        </p:nvPicPr>
        <p:blipFill>
          <a:blip r:embed="rId3"/>
          <a:stretch>
            <a:fillRect/>
          </a:stretch>
        </p:blipFill>
        <p:spPr>
          <a:xfrm>
            <a:off x="2495550" y="1238250"/>
            <a:ext cx="4152900" cy="4381500"/>
          </a:xfrm>
          <a:prstGeom prst="rect">
            <a:avLst/>
          </a:prstGeom>
        </p:spPr>
      </p:pic>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a:t>A Quick Review</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5</a:t>
            </a:fld>
            <a:endParaRPr lang="en-US"/>
          </a:p>
        </p:txBody>
      </p:sp>
      <p:sp>
        <p:nvSpPr>
          <p:cNvPr id="6" name="Title 1">
            <a:extLst>
              <a:ext uri="{FF2B5EF4-FFF2-40B4-BE49-F238E27FC236}">
                <a16:creationId xmlns:a16="http://schemas.microsoft.com/office/drawing/2014/main" id="{846B6ED4-FF3E-41A0-BF8B-E8078567F762}"/>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Background</a:t>
            </a:r>
          </a:p>
        </p:txBody>
      </p:sp>
      <p:cxnSp>
        <p:nvCxnSpPr>
          <p:cNvPr id="14" name="Straight Arrow Connector 13">
            <a:extLst>
              <a:ext uri="{FF2B5EF4-FFF2-40B4-BE49-F238E27FC236}">
                <a16:creationId xmlns:a16="http://schemas.microsoft.com/office/drawing/2014/main" id="{63CBEE1C-BDF8-488A-BFBF-9155574A4128}"/>
              </a:ext>
            </a:extLst>
          </p:cNvPr>
          <p:cNvCxnSpPr/>
          <p:nvPr/>
        </p:nvCxnSpPr>
        <p:spPr>
          <a:xfrm>
            <a:off x="4495800" y="5995988"/>
            <a:ext cx="6858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9" name="Picture 8">
            <a:extLst>
              <a:ext uri="{FF2B5EF4-FFF2-40B4-BE49-F238E27FC236}">
                <a16:creationId xmlns:a16="http://schemas.microsoft.com/office/drawing/2014/main" id="{9F42FBB2-92C6-4031-BB2E-862AF6E96F89}"/>
              </a:ext>
            </a:extLst>
          </p:cNvPr>
          <p:cNvPicPr>
            <a:picLocks noChangeAspect="1"/>
          </p:cNvPicPr>
          <p:nvPr/>
        </p:nvPicPr>
        <p:blipFill>
          <a:blip r:embed="rId4"/>
          <a:stretch>
            <a:fillRect/>
          </a:stretch>
        </p:blipFill>
        <p:spPr>
          <a:xfrm>
            <a:off x="381000" y="5857875"/>
            <a:ext cx="3933825" cy="276225"/>
          </a:xfrm>
          <a:prstGeom prst="rect">
            <a:avLst/>
          </a:prstGeom>
        </p:spPr>
      </p:pic>
      <p:pic>
        <p:nvPicPr>
          <p:cNvPr id="11" name="Picture 10">
            <a:extLst>
              <a:ext uri="{FF2B5EF4-FFF2-40B4-BE49-F238E27FC236}">
                <a16:creationId xmlns:a16="http://schemas.microsoft.com/office/drawing/2014/main" id="{184E9858-9BBB-44D2-9ED5-67C664365FAA}"/>
              </a:ext>
            </a:extLst>
          </p:cNvPr>
          <p:cNvPicPr>
            <a:picLocks noChangeAspect="1"/>
          </p:cNvPicPr>
          <p:nvPr/>
        </p:nvPicPr>
        <p:blipFill>
          <a:blip r:embed="rId5"/>
          <a:stretch>
            <a:fillRect/>
          </a:stretch>
        </p:blipFill>
        <p:spPr>
          <a:xfrm>
            <a:off x="5334000" y="5819775"/>
            <a:ext cx="3352800" cy="352425"/>
          </a:xfrm>
          <a:prstGeom prst="rect">
            <a:avLst/>
          </a:prstGeom>
        </p:spPr>
      </p:pic>
      <p:pic>
        <p:nvPicPr>
          <p:cNvPr id="10" name="Picture 9">
            <a:extLst>
              <a:ext uri="{FF2B5EF4-FFF2-40B4-BE49-F238E27FC236}">
                <a16:creationId xmlns:a16="http://schemas.microsoft.com/office/drawing/2014/main" id="{95F0DA41-8EFE-4A3B-A3F7-C118C8F0EE94}"/>
              </a:ext>
            </a:extLst>
          </p:cNvPr>
          <p:cNvPicPr>
            <a:picLocks noChangeAspect="1"/>
          </p:cNvPicPr>
          <p:nvPr/>
        </p:nvPicPr>
        <p:blipFill>
          <a:blip r:embed="rId6"/>
          <a:stretch>
            <a:fillRect/>
          </a:stretch>
        </p:blipFill>
        <p:spPr>
          <a:xfrm>
            <a:off x="457200" y="6409531"/>
            <a:ext cx="2105974" cy="319087"/>
          </a:xfrm>
          <a:prstGeom prst="rect">
            <a:avLst/>
          </a:prstGeom>
        </p:spPr>
      </p:pic>
    </p:spTree>
    <p:extLst>
      <p:ext uri="{BB962C8B-B14F-4D97-AF65-F5344CB8AC3E}">
        <p14:creationId xmlns:p14="http://schemas.microsoft.com/office/powerpoint/2010/main" val="207139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251562-FECE-45A3-BD30-552BEB95AB9B}"/>
              </a:ext>
            </a:extLst>
          </p:cNvPr>
          <p:cNvPicPr>
            <a:picLocks noChangeAspect="1"/>
          </p:cNvPicPr>
          <p:nvPr/>
        </p:nvPicPr>
        <p:blipFill>
          <a:blip r:embed="rId3"/>
          <a:stretch>
            <a:fillRect/>
          </a:stretch>
        </p:blipFill>
        <p:spPr>
          <a:xfrm>
            <a:off x="2495550" y="1238250"/>
            <a:ext cx="4152900" cy="4381500"/>
          </a:xfrm>
          <a:prstGeom prst="rect">
            <a:avLst/>
          </a:prstGeom>
        </p:spPr>
      </p:pic>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a:t>A Quick Review</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6</a:t>
            </a:fld>
            <a:endParaRPr lang="en-US"/>
          </a:p>
        </p:txBody>
      </p:sp>
      <p:sp>
        <p:nvSpPr>
          <p:cNvPr id="6" name="Title 1">
            <a:extLst>
              <a:ext uri="{FF2B5EF4-FFF2-40B4-BE49-F238E27FC236}">
                <a16:creationId xmlns:a16="http://schemas.microsoft.com/office/drawing/2014/main" id="{846B6ED4-FF3E-41A0-BF8B-E8078567F762}"/>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Background</a:t>
            </a:r>
          </a:p>
        </p:txBody>
      </p:sp>
      <p:cxnSp>
        <p:nvCxnSpPr>
          <p:cNvPr id="14" name="Straight Arrow Connector 13">
            <a:extLst>
              <a:ext uri="{FF2B5EF4-FFF2-40B4-BE49-F238E27FC236}">
                <a16:creationId xmlns:a16="http://schemas.microsoft.com/office/drawing/2014/main" id="{63CBEE1C-BDF8-488A-BFBF-9155574A4128}"/>
              </a:ext>
            </a:extLst>
          </p:cNvPr>
          <p:cNvCxnSpPr>
            <a:cxnSpLocks/>
          </p:cNvCxnSpPr>
          <p:nvPr/>
        </p:nvCxnSpPr>
        <p:spPr>
          <a:xfrm>
            <a:off x="4267200" y="5995988"/>
            <a:ext cx="8382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6A074982-8E71-47BB-A7BF-9F255A7B2954}"/>
              </a:ext>
            </a:extLst>
          </p:cNvPr>
          <p:cNvPicPr>
            <a:picLocks noChangeAspect="1"/>
          </p:cNvPicPr>
          <p:nvPr/>
        </p:nvPicPr>
        <p:blipFill>
          <a:blip r:embed="rId4"/>
          <a:stretch>
            <a:fillRect/>
          </a:stretch>
        </p:blipFill>
        <p:spPr>
          <a:xfrm>
            <a:off x="2557462" y="5775902"/>
            <a:ext cx="1343025" cy="381000"/>
          </a:xfrm>
          <a:prstGeom prst="rect">
            <a:avLst/>
          </a:prstGeom>
        </p:spPr>
      </p:pic>
      <p:pic>
        <p:nvPicPr>
          <p:cNvPr id="10" name="Picture 9">
            <a:extLst>
              <a:ext uri="{FF2B5EF4-FFF2-40B4-BE49-F238E27FC236}">
                <a16:creationId xmlns:a16="http://schemas.microsoft.com/office/drawing/2014/main" id="{ADD81990-E323-43A1-8EAF-2A7691F28D15}"/>
              </a:ext>
            </a:extLst>
          </p:cNvPr>
          <p:cNvPicPr>
            <a:picLocks noChangeAspect="1"/>
          </p:cNvPicPr>
          <p:nvPr/>
        </p:nvPicPr>
        <p:blipFill>
          <a:blip r:embed="rId5"/>
          <a:stretch>
            <a:fillRect/>
          </a:stretch>
        </p:blipFill>
        <p:spPr>
          <a:xfrm>
            <a:off x="5446713" y="5775902"/>
            <a:ext cx="923925" cy="390525"/>
          </a:xfrm>
          <a:prstGeom prst="rect">
            <a:avLst/>
          </a:prstGeom>
        </p:spPr>
      </p:pic>
      <p:pic>
        <p:nvPicPr>
          <p:cNvPr id="9" name="Picture 8">
            <a:extLst>
              <a:ext uri="{FF2B5EF4-FFF2-40B4-BE49-F238E27FC236}">
                <a16:creationId xmlns:a16="http://schemas.microsoft.com/office/drawing/2014/main" id="{FB2A08C9-530B-4B14-9911-1A956710D29B}"/>
              </a:ext>
            </a:extLst>
          </p:cNvPr>
          <p:cNvPicPr>
            <a:picLocks noChangeAspect="1"/>
          </p:cNvPicPr>
          <p:nvPr/>
        </p:nvPicPr>
        <p:blipFill>
          <a:blip r:embed="rId6"/>
          <a:stretch>
            <a:fillRect/>
          </a:stretch>
        </p:blipFill>
        <p:spPr>
          <a:xfrm>
            <a:off x="457200" y="6409531"/>
            <a:ext cx="2105974" cy="319087"/>
          </a:xfrm>
          <a:prstGeom prst="rect">
            <a:avLst/>
          </a:prstGeom>
        </p:spPr>
      </p:pic>
    </p:spTree>
    <p:extLst>
      <p:ext uri="{BB962C8B-B14F-4D97-AF65-F5344CB8AC3E}">
        <p14:creationId xmlns:p14="http://schemas.microsoft.com/office/powerpoint/2010/main" val="4263682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a:t>The Model(s)</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7</a:t>
            </a:fld>
            <a:endParaRPr lang="en-US"/>
          </a:p>
        </p:txBody>
      </p:sp>
      <p:sp>
        <p:nvSpPr>
          <p:cNvPr id="6" name="Title 1">
            <a:extLst>
              <a:ext uri="{FF2B5EF4-FFF2-40B4-BE49-F238E27FC236}">
                <a16:creationId xmlns:a16="http://schemas.microsoft.com/office/drawing/2014/main" id="{846B6ED4-FF3E-41A0-BF8B-E8078567F762}"/>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Background</a:t>
            </a:r>
          </a:p>
        </p:txBody>
      </p:sp>
      <p:sp>
        <p:nvSpPr>
          <p:cNvPr id="10" name="Content Placeholder 9">
            <a:extLst>
              <a:ext uri="{FF2B5EF4-FFF2-40B4-BE49-F238E27FC236}">
                <a16:creationId xmlns:a16="http://schemas.microsoft.com/office/drawing/2014/main" id="{261B6347-B1EE-4960-86F6-C2955E49146E}"/>
              </a:ext>
            </a:extLst>
          </p:cNvPr>
          <p:cNvSpPr>
            <a:spLocks noGrp="1"/>
          </p:cNvSpPr>
          <p:nvPr>
            <p:ph idx="1"/>
          </p:nvPr>
        </p:nvSpPr>
        <p:spPr>
          <a:xfrm>
            <a:off x="685800" y="1570038"/>
            <a:ext cx="7696200" cy="4906962"/>
          </a:xfrm>
        </p:spPr>
        <p:txBody>
          <a:bodyPr>
            <a:normAutofit/>
          </a:bodyPr>
          <a:lstStyle/>
          <a:p>
            <a:r>
              <a:rPr lang="en-US" dirty="0"/>
              <a:t>List of analyzed variables:</a:t>
            </a:r>
          </a:p>
          <a:p>
            <a:pPr lvl="1"/>
            <a:r>
              <a:rPr lang="en-US" dirty="0"/>
              <a:t>Terminal degree</a:t>
            </a:r>
          </a:p>
          <a:p>
            <a:pPr lvl="1"/>
            <a:r>
              <a:rPr lang="en-US" dirty="0"/>
              <a:t>Dichotomous variables for rank</a:t>
            </a:r>
          </a:p>
          <a:p>
            <a:pPr lvl="1"/>
            <a:r>
              <a:rPr lang="en-US" dirty="0"/>
              <a:t>Dichotomous variables for department</a:t>
            </a:r>
          </a:p>
          <a:p>
            <a:pPr lvl="1"/>
            <a:r>
              <a:rPr lang="en-US" dirty="0"/>
              <a:t>Years in current rank (and this term squared)</a:t>
            </a:r>
          </a:p>
          <a:p>
            <a:pPr lvl="1"/>
            <a:r>
              <a:rPr lang="en-US" dirty="0"/>
              <a:t>Years in prior rank (and this term squared)</a:t>
            </a:r>
          </a:p>
          <a:p>
            <a:pPr lvl="1"/>
            <a:r>
              <a:rPr lang="en-US" dirty="0"/>
              <a:t>Years from grad to hire (and this term squared)</a:t>
            </a:r>
          </a:p>
          <a:p>
            <a:pPr lvl="1"/>
            <a:r>
              <a:rPr lang="en-US" dirty="0"/>
              <a:t>Minority status</a:t>
            </a:r>
          </a:p>
          <a:p>
            <a:pPr lvl="1"/>
            <a:r>
              <a:rPr lang="en-US" dirty="0"/>
              <a:t>Gender (flag for “female”)</a:t>
            </a:r>
          </a:p>
        </p:txBody>
      </p:sp>
    </p:spTree>
    <p:extLst>
      <p:ext uri="{BB962C8B-B14F-4D97-AF65-F5344CB8AC3E}">
        <p14:creationId xmlns:p14="http://schemas.microsoft.com/office/powerpoint/2010/main" val="2953944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a:t>The Model(s)</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8</a:t>
            </a:fld>
            <a:endParaRPr lang="en-US"/>
          </a:p>
        </p:txBody>
      </p:sp>
      <p:sp>
        <p:nvSpPr>
          <p:cNvPr id="6" name="Title 1">
            <a:extLst>
              <a:ext uri="{FF2B5EF4-FFF2-40B4-BE49-F238E27FC236}">
                <a16:creationId xmlns:a16="http://schemas.microsoft.com/office/drawing/2014/main" id="{846B6ED4-FF3E-41A0-BF8B-E8078567F762}"/>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Background</a:t>
            </a:r>
          </a:p>
        </p:txBody>
      </p:sp>
      <p:pic>
        <p:nvPicPr>
          <p:cNvPr id="9" name="Picture 8">
            <a:extLst>
              <a:ext uri="{FF2B5EF4-FFF2-40B4-BE49-F238E27FC236}">
                <a16:creationId xmlns:a16="http://schemas.microsoft.com/office/drawing/2014/main" id="{13AA7E27-BEE8-4C75-8A92-9E11791A6E66}"/>
              </a:ext>
            </a:extLst>
          </p:cNvPr>
          <p:cNvPicPr>
            <a:picLocks noChangeAspect="1"/>
          </p:cNvPicPr>
          <p:nvPr/>
        </p:nvPicPr>
        <p:blipFill>
          <a:blip r:embed="rId3"/>
          <a:stretch>
            <a:fillRect/>
          </a:stretch>
        </p:blipFill>
        <p:spPr>
          <a:xfrm>
            <a:off x="1095375" y="1499394"/>
            <a:ext cx="6953250" cy="1590675"/>
          </a:xfrm>
          <a:prstGeom prst="rect">
            <a:avLst/>
          </a:prstGeom>
          <a:ln>
            <a:solidFill>
              <a:schemeClr val="accent1"/>
            </a:solidFill>
          </a:ln>
        </p:spPr>
      </p:pic>
      <p:pic>
        <p:nvPicPr>
          <p:cNvPr id="12" name="Picture 11">
            <a:extLst>
              <a:ext uri="{FF2B5EF4-FFF2-40B4-BE49-F238E27FC236}">
                <a16:creationId xmlns:a16="http://schemas.microsoft.com/office/drawing/2014/main" id="{FBCCC84C-5311-4109-9C5A-EF2FFDF4722F}"/>
              </a:ext>
            </a:extLst>
          </p:cNvPr>
          <p:cNvPicPr>
            <a:picLocks noChangeAspect="1"/>
          </p:cNvPicPr>
          <p:nvPr/>
        </p:nvPicPr>
        <p:blipFill>
          <a:blip r:embed="rId4"/>
          <a:stretch>
            <a:fillRect/>
          </a:stretch>
        </p:blipFill>
        <p:spPr>
          <a:xfrm>
            <a:off x="1933575" y="3221903"/>
            <a:ext cx="5276850" cy="3514725"/>
          </a:xfrm>
          <a:prstGeom prst="rect">
            <a:avLst/>
          </a:prstGeom>
          <a:ln>
            <a:solidFill>
              <a:schemeClr val="accent1"/>
            </a:solidFill>
          </a:ln>
        </p:spPr>
      </p:pic>
    </p:spTree>
    <p:extLst>
      <p:ext uri="{BB962C8B-B14F-4D97-AF65-F5344CB8AC3E}">
        <p14:creationId xmlns:p14="http://schemas.microsoft.com/office/powerpoint/2010/main" val="2224787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a:t>The Motivation</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9</a:t>
            </a:fld>
            <a:endParaRPr lang="en-US"/>
          </a:p>
        </p:txBody>
      </p:sp>
      <p:sp>
        <p:nvSpPr>
          <p:cNvPr id="6" name="Title 1">
            <a:extLst>
              <a:ext uri="{FF2B5EF4-FFF2-40B4-BE49-F238E27FC236}">
                <a16:creationId xmlns:a16="http://schemas.microsoft.com/office/drawing/2014/main" id="{846B6ED4-FF3E-41A0-BF8B-E8078567F762}"/>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Background</a:t>
            </a:r>
          </a:p>
        </p:txBody>
      </p:sp>
      <p:sp>
        <p:nvSpPr>
          <p:cNvPr id="11" name="Content Placeholder 9">
            <a:extLst>
              <a:ext uri="{FF2B5EF4-FFF2-40B4-BE49-F238E27FC236}">
                <a16:creationId xmlns:a16="http://schemas.microsoft.com/office/drawing/2014/main" id="{E221714F-B29B-4380-A84E-547680809E6A}"/>
              </a:ext>
            </a:extLst>
          </p:cNvPr>
          <p:cNvSpPr txBox="1">
            <a:spLocks/>
          </p:cNvSpPr>
          <p:nvPr/>
        </p:nvSpPr>
        <p:spPr>
          <a:xfrm>
            <a:off x="685800" y="2209800"/>
            <a:ext cx="7734300" cy="1066799"/>
          </a:xfrm>
          <a:prstGeom prst="rect">
            <a:avLst/>
          </a:prstGeom>
        </p:spPr>
        <p:txBody>
          <a:bodyPr vert="horz" lIns="0" tIns="45720" rIns="91440" bIns="45720" rtlCol="0">
            <a:normAutofit/>
          </a:bodyPr>
          <a:lstStyle>
            <a:lvl1pPr marL="342900" indent="-342900" algn="l" defTabSz="457200" rtl="0" eaLnBrk="1" latinLnBrk="0" hangingPunct="1">
              <a:spcBef>
                <a:spcPct val="20000"/>
              </a:spcBef>
              <a:buFont typeface="Arial"/>
              <a:buChar char="•"/>
              <a:defRPr sz="2800" b="0" i="0" kern="1200">
                <a:solidFill>
                  <a:srgbClr val="002B5C"/>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002B5C"/>
                </a:solidFill>
                <a:latin typeface="Georgia"/>
                <a:ea typeface="+mn-ea"/>
                <a:cs typeface="Georgia"/>
              </a:defRPr>
            </a:lvl2pPr>
            <a:lvl3pPr marL="1143000" indent="-228600" algn="l" defTabSz="457200" rtl="0" eaLnBrk="1" latinLnBrk="0" hangingPunct="1">
              <a:spcBef>
                <a:spcPct val="20000"/>
              </a:spcBef>
              <a:buFont typeface="Arial"/>
              <a:buChar char="•"/>
              <a:defRPr sz="1800" b="0" i="0" kern="1200">
                <a:solidFill>
                  <a:srgbClr val="002B5C"/>
                </a:solidFill>
                <a:latin typeface="Arial"/>
                <a:ea typeface="+mn-ea"/>
                <a:cs typeface="Arial"/>
              </a:defRPr>
            </a:lvl3pPr>
            <a:lvl4pPr marL="1600200" indent="-228600" algn="l" defTabSz="457200" rtl="0" eaLnBrk="1" latinLnBrk="0" hangingPunct="1">
              <a:spcBef>
                <a:spcPct val="20000"/>
              </a:spcBef>
              <a:buFont typeface="Arial"/>
              <a:buChar char="–"/>
              <a:defRPr sz="1400" b="0" i="0" kern="1200">
                <a:solidFill>
                  <a:srgbClr val="002B5C"/>
                </a:solidFill>
                <a:latin typeface="Georgia"/>
                <a:ea typeface="+mn-ea"/>
                <a:cs typeface="Georgia"/>
              </a:defRPr>
            </a:lvl4pPr>
            <a:lvl5pPr marL="2057400" indent="-228600" algn="l" defTabSz="457200" rtl="0" eaLnBrk="1" latinLnBrk="0" hangingPunct="1">
              <a:spcBef>
                <a:spcPct val="20000"/>
              </a:spcBef>
              <a:buFont typeface="Arial"/>
              <a:buChar char="»"/>
              <a:defRPr sz="1200" b="0" i="0" kern="1200">
                <a:solidFill>
                  <a:srgbClr val="002B5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i="1" dirty="0"/>
              <a:t>Follow-up Question</a:t>
            </a:r>
            <a:r>
              <a:rPr lang="en-US" dirty="0"/>
              <a:t>: Are there outliers that are influencing this study and hiding any biases?</a:t>
            </a:r>
          </a:p>
        </p:txBody>
      </p:sp>
      <p:sp>
        <p:nvSpPr>
          <p:cNvPr id="9" name="Content Placeholder 9">
            <a:extLst>
              <a:ext uri="{FF2B5EF4-FFF2-40B4-BE49-F238E27FC236}">
                <a16:creationId xmlns:a16="http://schemas.microsoft.com/office/drawing/2014/main" id="{9E395F91-1842-4336-A465-A2B97EAE4F3F}"/>
              </a:ext>
            </a:extLst>
          </p:cNvPr>
          <p:cNvSpPr txBox="1">
            <a:spLocks/>
          </p:cNvSpPr>
          <p:nvPr/>
        </p:nvSpPr>
        <p:spPr>
          <a:xfrm>
            <a:off x="682336" y="3895579"/>
            <a:ext cx="7734300" cy="1971821"/>
          </a:xfrm>
          <a:prstGeom prst="rect">
            <a:avLst/>
          </a:prstGeom>
        </p:spPr>
        <p:txBody>
          <a:bodyPr vert="horz" lIns="0" tIns="45720" rIns="91440" bIns="45720" rtlCol="0">
            <a:normAutofit/>
          </a:bodyPr>
          <a:lstStyle>
            <a:lvl1pPr marL="342900" indent="-342900" algn="l" defTabSz="457200" rtl="0" eaLnBrk="1" latinLnBrk="0" hangingPunct="1">
              <a:spcBef>
                <a:spcPct val="20000"/>
              </a:spcBef>
              <a:buFont typeface="Arial"/>
              <a:buChar char="•"/>
              <a:defRPr sz="2800" b="0" i="0" kern="1200">
                <a:solidFill>
                  <a:srgbClr val="002B5C"/>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002B5C"/>
                </a:solidFill>
                <a:latin typeface="Georgia"/>
                <a:ea typeface="+mn-ea"/>
                <a:cs typeface="Georgia"/>
              </a:defRPr>
            </a:lvl2pPr>
            <a:lvl3pPr marL="1143000" indent="-228600" algn="l" defTabSz="457200" rtl="0" eaLnBrk="1" latinLnBrk="0" hangingPunct="1">
              <a:spcBef>
                <a:spcPct val="20000"/>
              </a:spcBef>
              <a:buFont typeface="Arial"/>
              <a:buChar char="•"/>
              <a:defRPr sz="1800" b="0" i="0" kern="1200">
                <a:solidFill>
                  <a:srgbClr val="002B5C"/>
                </a:solidFill>
                <a:latin typeface="Arial"/>
                <a:ea typeface="+mn-ea"/>
                <a:cs typeface="Arial"/>
              </a:defRPr>
            </a:lvl3pPr>
            <a:lvl4pPr marL="1600200" indent="-228600" algn="l" defTabSz="457200" rtl="0" eaLnBrk="1" latinLnBrk="0" hangingPunct="1">
              <a:spcBef>
                <a:spcPct val="20000"/>
              </a:spcBef>
              <a:buFont typeface="Arial"/>
              <a:buChar char="–"/>
              <a:defRPr sz="1400" b="0" i="0" kern="1200">
                <a:solidFill>
                  <a:srgbClr val="002B5C"/>
                </a:solidFill>
                <a:latin typeface="Georgia"/>
                <a:ea typeface="+mn-ea"/>
                <a:cs typeface="Georgia"/>
              </a:defRPr>
            </a:lvl4pPr>
            <a:lvl5pPr marL="2057400" indent="-228600" algn="l" defTabSz="457200" rtl="0" eaLnBrk="1" latinLnBrk="0" hangingPunct="1">
              <a:spcBef>
                <a:spcPct val="20000"/>
              </a:spcBef>
              <a:buFont typeface="Arial"/>
              <a:buChar char="»"/>
              <a:defRPr sz="1200" b="0" i="0" kern="1200">
                <a:solidFill>
                  <a:srgbClr val="002B5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i="1" dirty="0"/>
              <a:t>Observation</a:t>
            </a:r>
            <a:r>
              <a:rPr lang="en-US" dirty="0"/>
              <a:t>: There are many well known approaches to handling outliers in the response variable, but outlier detection for the independent variables is less well known.</a:t>
            </a:r>
          </a:p>
        </p:txBody>
      </p:sp>
    </p:spTree>
    <p:extLst>
      <p:ext uri="{BB962C8B-B14F-4D97-AF65-F5344CB8AC3E}">
        <p14:creationId xmlns:p14="http://schemas.microsoft.com/office/powerpoint/2010/main" val="195737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85C8140-4CC6-4CF7-B788-0B1E3D050130}"/>
              </a:ext>
            </a:extLst>
          </p:cNvPr>
          <p:cNvPicPr>
            <a:picLocks noChangeAspect="1"/>
          </p:cNvPicPr>
          <p:nvPr/>
        </p:nvPicPr>
        <p:blipFill>
          <a:blip r:embed="rId3"/>
          <a:stretch>
            <a:fillRect/>
          </a:stretch>
        </p:blipFill>
        <p:spPr>
          <a:xfrm>
            <a:off x="1381175" y="1002685"/>
            <a:ext cx="6381650" cy="4852629"/>
          </a:xfrm>
          <a:prstGeom prst="rect">
            <a:avLst/>
          </a:prstGeom>
        </p:spPr>
      </p:pic>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a:t>More Review</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10</a:t>
            </a:fld>
            <a:endParaRPr lang="en-US"/>
          </a:p>
        </p:txBody>
      </p:sp>
      <p:sp>
        <p:nvSpPr>
          <p:cNvPr id="6" name="Title 1">
            <a:extLst>
              <a:ext uri="{FF2B5EF4-FFF2-40B4-BE49-F238E27FC236}">
                <a16:creationId xmlns:a16="http://schemas.microsoft.com/office/drawing/2014/main" id="{846B6ED4-FF3E-41A0-BF8B-E8078567F762}"/>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Background</a:t>
            </a:r>
          </a:p>
        </p:txBody>
      </p:sp>
      <p:sp>
        <p:nvSpPr>
          <p:cNvPr id="12" name="Content Placeholder 9">
            <a:extLst>
              <a:ext uri="{FF2B5EF4-FFF2-40B4-BE49-F238E27FC236}">
                <a16:creationId xmlns:a16="http://schemas.microsoft.com/office/drawing/2014/main" id="{2092FD37-4E4F-4C9E-9B7A-64DD64848A0D}"/>
              </a:ext>
            </a:extLst>
          </p:cNvPr>
          <p:cNvSpPr txBox="1">
            <a:spLocks/>
          </p:cNvSpPr>
          <p:nvPr/>
        </p:nvSpPr>
        <p:spPr>
          <a:xfrm>
            <a:off x="1752600" y="5791200"/>
            <a:ext cx="5943600" cy="609599"/>
          </a:xfrm>
          <a:prstGeom prst="rect">
            <a:avLst/>
          </a:prstGeom>
        </p:spPr>
        <p:txBody>
          <a:bodyPr vert="horz" lIns="0" tIns="45720" rIns="91440" bIns="45720" rtlCol="0">
            <a:normAutofit/>
          </a:bodyPr>
          <a:lstStyle>
            <a:lvl1pPr marL="342900" indent="-342900" algn="l" defTabSz="457200" rtl="0" eaLnBrk="1" latinLnBrk="0" hangingPunct="1">
              <a:spcBef>
                <a:spcPct val="20000"/>
              </a:spcBef>
              <a:buFont typeface="Arial"/>
              <a:buChar char="•"/>
              <a:defRPr sz="2800" b="0" i="0" kern="1200">
                <a:solidFill>
                  <a:srgbClr val="002B5C"/>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002B5C"/>
                </a:solidFill>
                <a:latin typeface="Georgia"/>
                <a:ea typeface="+mn-ea"/>
                <a:cs typeface="Georgia"/>
              </a:defRPr>
            </a:lvl2pPr>
            <a:lvl3pPr marL="1143000" indent="-228600" algn="l" defTabSz="457200" rtl="0" eaLnBrk="1" latinLnBrk="0" hangingPunct="1">
              <a:spcBef>
                <a:spcPct val="20000"/>
              </a:spcBef>
              <a:buFont typeface="Arial"/>
              <a:buChar char="•"/>
              <a:defRPr sz="1800" b="0" i="0" kern="1200">
                <a:solidFill>
                  <a:srgbClr val="002B5C"/>
                </a:solidFill>
                <a:latin typeface="Arial"/>
                <a:ea typeface="+mn-ea"/>
                <a:cs typeface="Arial"/>
              </a:defRPr>
            </a:lvl3pPr>
            <a:lvl4pPr marL="1600200" indent="-228600" algn="l" defTabSz="457200" rtl="0" eaLnBrk="1" latinLnBrk="0" hangingPunct="1">
              <a:spcBef>
                <a:spcPct val="20000"/>
              </a:spcBef>
              <a:buFont typeface="Arial"/>
              <a:buChar char="–"/>
              <a:defRPr sz="1400" b="0" i="0" kern="1200">
                <a:solidFill>
                  <a:srgbClr val="002B5C"/>
                </a:solidFill>
                <a:latin typeface="Georgia"/>
                <a:ea typeface="+mn-ea"/>
                <a:cs typeface="Georgia"/>
              </a:defRPr>
            </a:lvl4pPr>
            <a:lvl5pPr marL="2057400" indent="-228600" algn="l" defTabSz="457200" rtl="0" eaLnBrk="1" latinLnBrk="0" hangingPunct="1">
              <a:spcBef>
                <a:spcPct val="20000"/>
              </a:spcBef>
              <a:buFont typeface="Arial"/>
              <a:buChar char="»"/>
              <a:defRPr sz="1200" b="0" i="0" kern="1200">
                <a:solidFill>
                  <a:srgbClr val="002B5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i="1" dirty="0"/>
              <a:t>Question</a:t>
            </a:r>
            <a:r>
              <a:rPr lang="en-US" dirty="0"/>
              <a:t>: What counts as an outlier?</a:t>
            </a:r>
          </a:p>
        </p:txBody>
      </p:sp>
      <p:pic>
        <p:nvPicPr>
          <p:cNvPr id="3" name="Picture 2">
            <a:extLst>
              <a:ext uri="{FF2B5EF4-FFF2-40B4-BE49-F238E27FC236}">
                <a16:creationId xmlns:a16="http://schemas.microsoft.com/office/drawing/2014/main" id="{F22186FC-01FF-4D62-9B36-74C1B32E53FE}"/>
              </a:ext>
            </a:extLst>
          </p:cNvPr>
          <p:cNvPicPr>
            <a:picLocks noChangeAspect="1"/>
          </p:cNvPicPr>
          <p:nvPr/>
        </p:nvPicPr>
        <p:blipFill>
          <a:blip r:embed="rId4"/>
          <a:stretch>
            <a:fillRect/>
          </a:stretch>
        </p:blipFill>
        <p:spPr>
          <a:xfrm>
            <a:off x="381000" y="6413100"/>
            <a:ext cx="2346642" cy="288925"/>
          </a:xfrm>
          <a:prstGeom prst="rect">
            <a:avLst/>
          </a:prstGeom>
        </p:spPr>
      </p:pic>
    </p:spTree>
    <p:extLst>
      <p:ext uri="{BB962C8B-B14F-4D97-AF65-F5344CB8AC3E}">
        <p14:creationId xmlns:p14="http://schemas.microsoft.com/office/powerpoint/2010/main" val="3858057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A71CF95-9601-4DBD-BAC1-45D93B09BE5D}"/>
              </a:ext>
            </a:extLst>
          </p:cNvPr>
          <p:cNvPicPr>
            <a:picLocks noChangeAspect="1"/>
          </p:cNvPicPr>
          <p:nvPr/>
        </p:nvPicPr>
        <p:blipFill>
          <a:blip r:embed="rId3"/>
          <a:stretch>
            <a:fillRect/>
          </a:stretch>
        </p:blipFill>
        <p:spPr>
          <a:xfrm>
            <a:off x="1546534" y="1445491"/>
            <a:ext cx="5189723" cy="4855441"/>
          </a:xfrm>
          <a:prstGeom prst="rect">
            <a:avLst/>
          </a:prstGeom>
        </p:spPr>
      </p:pic>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a:t>Visual Intuition</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11</a:t>
            </a:fld>
            <a:endParaRPr lang="en-US"/>
          </a:p>
        </p:txBody>
      </p:sp>
      <p:sp>
        <p:nvSpPr>
          <p:cNvPr id="6" name="Title 1">
            <a:extLst>
              <a:ext uri="{FF2B5EF4-FFF2-40B4-BE49-F238E27FC236}">
                <a16:creationId xmlns:a16="http://schemas.microsoft.com/office/drawing/2014/main" id="{846B6ED4-FF3E-41A0-BF8B-E8078567F762}"/>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Leverage</a:t>
            </a:r>
          </a:p>
        </p:txBody>
      </p:sp>
      <p:pic>
        <p:nvPicPr>
          <p:cNvPr id="7" name="Picture 6">
            <a:extLst>
              <a:ext uri="{FF2B5EF4-FFF2-40B4-BE49-F238E27FC236}">
                <a16:creationId xmlns:a16="http://schemas.microsoft.com/office/drawing/2014/main" id="{7A1F5450-1518-43B5-9F30-898420226B5C}"/>
              </a:ext>
            </a:extLst>
          </p:cNvPr>
          <p:cNvPicPr>
            <a:picLocks noChangeAspect="1"/>
          </p:cNvPicPr>
          <p:nvPr/>
        </p:nvPicPr>
        <p:blipFill>
          <a:blip r:embed="rId4"/>
          <a:stretch>
            <a:fillRect/>
          </a:stretch>
        </p:blipFill>
        <p:spPr>
          <a:xfrm>
            <a:off x="457200" y="6409531"/>
            <a:ext cx="2105974" cy="319087"/>
          </a:xfrm>
          <a:prstGeom prst="rect">
            <a:avLst/>
          </a:prstGeom>
        </p:spPr>
      </p:pic>
    </p:spTree>
    <p:extLst>
      <p:ext uri="{BB962C8B-B14F-4D97-AF65-F5344CB8AC3E}">
        <p14:creationId xmlns:p14="http://schemas.microsoft.com/office/powerpoint/2010/main" val="194563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err="1"/>
              <a:t>Mathy</a:t>
            </a:r>
            <a:r>
              <a:rPr lang="en-US" sz="2700" dirty="0"/>
              <a:t> Intuition</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12</a:t>
            </a:fld>
            <a:endParaRPr lang="en-US"/>
          </a:p>
        </p:txBody>
      </p:sp>
      <p:sp>
        <p:nvSpPr>
          <p:cNvPr id="6" name="Title 1">
            <a:extLst>
              <a:ext uri="{FF2B5EF4-FFF2-40B4-BE49-F238E27FC236}">
                <a16:creationId xmlns:a16="http://schemas.microsoft.com/office/drawing/2014/main" id="{846B6ED4-FF3E-41A0-BF8B-E8078567F762}"/>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Leverage</a:t>
            </a:r>
          </a:p>
        </p:txBody>
      </p:sp>
      <p:pic>
        <p:nvPicPr>
          <p:cNvPr id="3" name="Picture 2">
            <a:extLst>
              <a:ext uri="{FF2B5EF4-FFF2-40B4-BE49-F238E27FC236}">
                <a16:creationId xmlns:a16="http://schemas.microsoft.com/office/drawing/2014/main" id="{4A99FF76-5186-44FA-832D-1A9EC87886A0}"/>
              </a:ext>
            </a:extLst>
          </p:cNvPr>
          <p:cNvPicPr>
            <a:picLocks noChangeAspect="1"/>
          </p:cNvPicPr>
          <p:nvPr/>
        </p:nvPicPr>
        <p:blipFill>
          <a:blip r:embed="rId3"/>
          <a:stretch>
            <a:fillRect/>
          </a:stretch>
        </p:blipFill>
        <p:spPr>
          <a:xfrm>
            <a:off x="3333750" y="1766888"/>
            <a:ext cx="2476500" cy="466725"/>
          </a:xfrm>
          <a:prstGeom prst="rect">
            <a:avLst/>
          </a:prstGeom>
        </p:spPr>
      </p:pic>
      <p:pic>
        <p:nvPicPr>
          <p:cNvPr id="5" name="Picture 4">
            <a:extLst>
              <a:ext uri="{FF2B5EF4-FFF2-40B4-BE49-F238E27FC236}">
                <a16:creationId xmlns:a16="http://schemas.microsoft.com/office/drawing/2014/main" id="{C865A5C7-6559-4D54-94B5-7330B679E403}"/>
              </a:ext>
            </a:extLst>
          </p:cNvPr>
          <p:cNvPicPr>
            <a:picLocks noChangeAspect="1"/>
          </p:cNvPicPr>
          <p:nvPr/>
        </p:nvPicPr>
        <p:blipFill>
          <a:blip r:embed="rId4"/>
          <a:stretch>
            <a:fillRect/>
          </a:stretch>
        </p:blipFill>
        <p:spPr>
          <a:xfrm>
            <a:off x="3662362" y="3376613"/>
            <a:ext cx="1819275" cy="523875"/>
          </a:xfrm>
          <a:prstGeom prst="rect">
            <a:avLst/>
          </a:prstGeom>
        </p:spPr>
      </p:pic>
      <p:pic>
        <p:nvPicPr>
          <p:cNvPr id="7" name="Picture 6">
            <a:extLst>
              <a:ext uri="{FF2B5EF4-FFF2-40B4-BE49-F238E27FC236}">
                <a16:creationId xmlns:a16="http://schemas.microsoft.com/office/drawing/2014/main" id="{A7D44F4A-566B-4496-9C33-320B7EAABCFB}"/>
              </a:ext>
            </a:extLst>
          </p:cNvPr>
          <p:cNvPicPr>
            <a:picLocks noChangeAspect="1"/>
          </p:cNvPicPr>
          <p:nvPr/>
        </p:nvPicPr>
        <p:blipFill>
          <a:blip r:embed="rId5"/>
          <a:stretch>
            <a:fillRect/>
          </a:stretch>
        </p:blipFill>
        <p:spPr>
          <a:xfrm>
            <a:off x="3633787" y="4238625"/>
            <a:ext cx="1876425" cy="561975"/>
          </a:xfrm>
          <a:prstGeom prst="rect">
            <a:avLst/>
          </a:prstGeom>
        </p:spPr>
      </p:pic>
      <p:pic>
        <p:nvPicPr>
          <p:cNvPr id="9" name="Picture 8">
            <a:extLst>
              <a:ext uri="{FF2B5EF4-FFF2-40B4-BE49-F238E27FC236}">
                <a16:creationId xmlns:a16="http://schemas.microsoft.com/office/drawing/2014/main" id="{A42C3C65-DF50-4B1F-A364-D41D90D745E9}"/>
              </a:ext>
            </a:extLst>
          </p:cNvPr>
          <p:cNvPicPr>
            <a:picLocks noChangeAspect="1"/>
          </p:cNvPicPr>
          <p:nvPr/>
        </p:nvPicPr>
        <p:blipFill>
          <a:blip r:embed="rId6"/>
          <a:stretch>
            <a:fillRect/>
          </a:stretch>
        </p:blipFill>
        <p:spPr>
          <a:xfrm>
            <a:off x="3613005" y="2539423"/>
            <a:ext cx="1781175" cy="533400"/>
          </a:xfrm>
          <a:prstGeom prst="rect">
            <a:avLst/>
          </a:prstGeom>
        </p:spPr>
      </p:pic>
      <p:sp>
        <p:nvSpPr>
          <p:cNvPr id="10" name="Content Placeholder 9">
            <a:extLst>
              <a:ext uri="{FF2B5EF4-FFF2-40B4-BE49-F238E27FC236}">
                <a16:creationId xmlns:a16="http://schemas.microsoft.com/office/drawing/2014/main" id="{5C63A55D-147A-4599-A812-E81F1CDA08A5}"/>
              </a:ext>
            </a:extLst>
          </p:cNvPr>
          <p:cNvSpPr txBox="1">
            <a:spLocks/>
          </p:cNvSpPr>
          <p:nvPr/>
        </p:nvSpPr>
        <p:spPr>
          <a:xfrm>
            <a:off x="983673" y="5181601"/>
            <a:ext cx="7734300" cy="1066799"/>
          </a:xfrm>
          <a:prstGeom prst="rect">
            <a:avLst/>
          </a:prstGeom>
        </p:spPr>
        <p:txBody>
          <a:bodyPr vert="horz" lIns="0" tIns="45720" rIns="91440" bIns="45720" rtlCol="0">
            <a:normAutofit fontScale="92500"/>
          </a:bodyPr>
          <a:lstStyle>
            <a:lvl1pPr marL="342900" indent="-342900" algn="l" defTabSz="457200" rtl="0" eaLnBrk="1" latinLnBrk="0" hangingPunct="1">
              <a:spcBef>
                <a:spcPct val="20000"/>
              </a:spcBef>
              <a:buFont typeface="Arial"/>
              <a:buChar char="•"/>
              <a:defRPr sz="2800" b="0" i="0" kern="1200">
                <a:solidFill>
                  <a:srgbClr val="002B5C"/>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002B5C"/>
                </a:solidFill>
                <a:latin typeface="Georgia"/>
                <a:ea typeface="+mn-ea"/>
                <a:cs typeface="Georgia"/>
              </a:defRPr>
            </a:lvl2pPr>
            <a:lvl3pPr marL="1143000" indent="-228600" algn="l" defTabSz="457200" rtl="0" eaLnBrk="1" latinLnBrk="0" hangingPunct="1">
              <a:spcBef>
                <a:spcPct val="20000"/>
              </a:spcBef>
              <a:buFont typeface="Arial"/>
              <a:buChar char="•"/>
              <a:defRPr sz="1800" b="0" i="0" kern="1200">
                <a:solidFill>
                  <a:srgbClr val="002B5C"/>
                </a:solidFill>
                <a:latin typeface="Arial"/>
                <a:ea typeface="+mn-ea"/>
                <a:cs typeface="Arial"/>
              </a:defRPr>
            </a:lvl3pPr>
            <a:lvl4pPr marL="1600200" indent="-228600" algn="l" defTabSz="457200" rtl="0" eaLnBrk="1" latinLnBrk="0" hangingPunct="1">
              <a:spcBef>
                <a:spcPct val="20000"/>
              </a:spcBef>
              <a:buFont typeface="Arial"/>
              <a:buChar char="–"/>
              <a:defRPr sz="1400" b="0" i="0" kern="1200">
                <a:solidFill>
                  <a:srgbClr val="002B5C"/>
                </a:solidFill>
                <a:latin typeface="Georgia"/>
                <a:ea typeface="+mn-ea"/>
                <a:cs typeface="Georgia"/>
              </a:defRPr>
            </a:lvl4pPr>
            <a:lvl5pPr marL="2057400" indent="-228600" algn="l" defTabSz="457200" rtl="0" eaLnBrk="1" latinLnBrk="0" hangingPunct="1">
              <a:spcBef>
                <a:spcPct val="20000"/>
              </a:spcBef>
              <a:buFont typeface="Arial"/>
              <a:buChar char="»"/>
              <a:defRPr sz="1200" b="0" i="0" kern="1200">
                <a:solidFill>
                  <a:srgbClr val="002B5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400" i="1" dirty="0"/>
              <a:t>Observation</a:t>
            </a:r>
            <a:r>
              <a:rPr lang="en-US" sz="2400" dirty="0"/>
              <a:t>: Data points close to the average on the X-axis have small impact on their corresponding fitted value!</a:t>
            </a:r>
          </a:p>
        </p:txBody>
      </p:sp>
    </p:spTree>
    <p:extLst>
      <p:ext uri="{BB962C8B-B14F-4D97-AF65-F5344CB8AC3E}">
        <p14:creationId xmlns:p14="http://schemas.microsoft.com/office/powerpoint/2010/main" val="3663987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a:t>Implementation</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13</a:t>
            </a:fld>
            <a:endParaRPr lang="en-US"/>
          </a:p>
        </p:txBody>
      </p:sp>
      <p:sp>
        <p:nvSpPr>
          <p:cNvPr id="6" name="Title 1">
            <a:extLst>
              <a:ext uri="{FF2B5EF4-FFF2-40B4-BE49-F238E27FC236}">
                <a16:creationId xmlns:a16="http://schemas.microsoft.com/office/drawing/2014/main" id="{846B6ED4-FF3E-41A0-BF8B-E8078567F762}"/>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Leverage</a:t>
            </a:r>
          </a:p>
        </p:txBody>
      </p:sp>
      <p:pic>
        <p:nvPicPr>
          <p:cNvPr id="8" name="Picture 7">
            <a:extLst>
              <a:ext uri="{FF2B5EF4-FFF2-40B4-BE49-F238E27FC236}">
                <a16:creationId xmlns:a16="http://schemas.microsoft.com/office/drawing/2014/main" id="{42567C08-CD47-4872-BD79-312F746ACD8F}"/>
              </a:ext>
            </a:extLst>
          </p:cNvPr>
          <p:cNvPicPr>
            <a:picLocks noChangeAspect="1"/>
          </p:cNvPicPr>
          <p:nvPr/>
        </p:nvPicPr>
        <p:blipFill>
          <a:blip r:embed="rId3"/>
          <a:stretch>
            <a:fillRect/>
          </a:stretch>
        </p:blipFill>
        <p:spPr>
          <a:xfrm>
            <a:off x="2852737" y="1838325"/>
            <a:ext cx="3438525" cy="981075"/>
          </a:xfrm>
          <a:prstGeom prst="rect">
            <a:avLst/>
          </a:prstGeom>
        </p:spPr>
      </p:pic>
      <p:sp>
        <p:nvSpPr>
          <p:cNvPr id="11" name="Content Placeholder 9">
            <a:extLst>
              <a:ext uri="{FF2B5EF4-FFF2-40B4-BE49-F238E27FC236}">
                <a16:creationId xmlns:a16="http://schemas.microsoft.com/office/drawing/2014/main" id="{3B1338B5-DA20-4B33-833F-C36118711093}"/>
              </a:ext>
            </a:extLst>
          </p:cNvPr>
          <p:cNvSpPr txBox="1">
            <a:spLocks/>
          </p:cNvSpPr>
          <p:nvPr/>
        </p:nvSpPr>
        <p:spPr>
          <a:xfrm>
            <a:off x="4339935" y="2971800"/>
            <a:ext cx="464127" cy="457200"/>
          </a:xfrm>
          <a:prstGeom prst="rect">
            <a:avLst/>
          </a:prstGeom>
        </p:spPr>
        <p:txBody>
          <a:bodyPr vert="horz" lIns="0" tIns="45720" rIns="91440" bIns="45720" rtlCol="0">
            <a:normAutofit/>
          </a:bodyPr>
          <a:lstStyle>
            <a:lvl1pPr marL="342900" indent="-342900" algn="l" defTabSz="457200" rtl="0" eaLnBrk="1" latinLnBrk="0" hangingPunct="1">
              <a:spcBef>
                <a:spcPct val="20000"/>
              </a:spcBef>
              <a:buFont typeface="Arial"/>
              <a:buChar char="•"/>
              <a:defRPr sz="2800" b="0" i="0" kern="1200">
                <a:solidFill>
                  <a:srgbClr val="002B5C"/>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002B5C"/>
                </a:solidFill>
                <a:latin typeface="Georgia"/>
                <a:ea typeface="+mn-ea"/>
                <a:cs typeface="Georgia"/>
              </a:defRPr>
            </a:lvl2pPr>
            <a:lvl3pPr marL="1143000" indent="-228600" algn="l" defTabSz="457200" rtl="0" eaLnBrk="1" latinLnBrk="0" hangingPunct="1">
              <a:spcBef>
                <a:spcPct val="20000"/>
              </a:spcBef>
              <a:buFont typeface="Arial"/>
              <a:buChar char="•"/>
              <a:defRPr sz="1800" b="0" i="0" kern="1200">
                <a:solidFill>
                  <a:srgbClr val="002B5C"/>
                </a:solidFill>
                <a:latin typeface="Arial"/>
                <a:ea typeface="+mn-ea"/>
                <a:cs typeface="Arial"/>
              </a:defRPr>
            </a:lvl3pPr>
            <a:lvl4pPr marL="1600200" indent="-228600" algn="l" defTabSz="457200" rtl="0" eaLnBrk="1" latinLnBrk="0" hangingPunct="1">
              <a:spcBef>
                <a:spcPct val="20000"/>
              </a:spcBef>
              <a:buFont typeface="Arial"/>
              <a:buChar char="–"/>
              <a:defRPr sz="1400" b="0" i="0" kern="1200">
                <a:solidFill>
                  <a:srgbClr val="002B5C"/>
                </a:solidFill>
                <a:latin typeface="Georgia"/>
                <a:ea typeface="+mn-ea"/>
                <a:cs typeface="Georgia"/>
              </a:defRPr>
            </a:lvl4pPr>
            <a:lvl5pPr marL="2057400" indent="-228600" algn="l" defTabSz="457200" rtl="0" eaLnBrk="1" latinLnBrk="0" hangingPunct="1">
              <a:spcBef>
                <a:spcPct val="20000"/>
              </a:spcBef>
              <a:buFont typeface="Arial"/>
              <a:buChar char="»"/>
              <a:defRPr sz="1200" b="0" i="0" kern="1200">
                <a:solidFill>
                  <a:srgbClr val="002B5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2400" i="1" dirty="0"/>
              <a:t>or</a:t>
            </a:r>
            <a:endParaRPr lang="en-US" sz="2400" dirty="0"/>
          </a:p>
        </p:txBody>
      </p:sp>
      <p:pic>
        <p:nvPicPr>
          <p:cNvPr id="12" name="Picture 11">
            <a:extLst>
              <a:ext uri="{FF2B5EF4-FFF2-40B4-BE49-F238E27FC236}">
                <a16:creationId xmlns:a16="http://schemas.microsoft.com/office/drawing/2014/main" id="{EC51B513-AFEF-45F9-926D-C254F6E8C575}"/>
              </a:ext>
            </a:extLst>
          </p:cNvPr>
          <p:cNvPicPr>
            <a:picLocks noChangeAspect="1"/>
          </p:cNvPicPr>
          <p:nvPr/>
        </p:nvPicPr>
        <p:blipFill>
          <a:blip r:embed="rId4"/>
          <a:stretch>
            <a:fillRect/>
          </a:stretch>
        </p:blipFill>
        <p:spPr>
          <a:xfrm>
            <a:off x="3429000" y="3619500"/>
            <a:ext cx="571500" cy="419100"/>
          </a:xfrm>
          <a:prstGeom prst="rect">
            <a:avLst/>
          </a:prstGeom>
        </p:spPr>
      </p:pic>
      <p:pic>
        <p:nvPicPr>
          <p:cNvPr id="13" name="Picture 12">
            <a:extLst>
              <a:ext uri="{FF2B5EF4-FFF2-40B4-BE49-F238E27FC236}">
                <a16:creationId xmlns:a16="http://schemas.microsoft.com/office/drawing/2014/main" id="{3292CC0F-CAC6-4E92-9431-4154B0B7B42E}"/>
              </a:ext>
            </a:extLst>
          </p:cNvPr>
          <p:cNvPicPr>
            <a:picLocks noChangeAspect="1"/>
          </p:cNvPicPr>
          <p:nvPr/>
        </p:nvPicPr>
        <p:blipFill>
          <a:blip r:embed="rId5"/>
          <a:stretch>
            <a:fillRect/>
          </a:stretch>
        </p:blipFill>
        <p:spPr>
          <a:xfrm>
            <a:off x="4419600" y="3657600"/>
            <a:ext cx="2409825" cy="371475"/>
          </a:xfrm>
          <a:prstGeom prst="rect">
            <a:avLst/>
          </a:prstGeom>
        </p:spPr>
      </p:pic>
      <p:sp>
        <p:nvSpPr>
          <p:cNvPr id="14" name="Content Placeholder 9">
            <a:extLst>
              <a:ext uri="{FF2B5EF4-FFF2-40B4-BE49-F238E27FC236}">
                <a16:creationId xmlns:a16="http://schemas.microsoft.com/office/drawing/2014/main" id="{8583B263-BC3E-4A64-8C48-F9A7E2946E8C}"/>
              </a:ext>
            </a:extLst>
          </p:cNvPr>
          <p:cNvSpPr txBox="1">
            <a:spLocks/>
          </p:cNvSpPr>
          <p:nvPr/>
        </p:nvSpPr>
        <p:spPr>
          <a:xfrm>
            <a:off x="1870361" y="4395355"/>
            <a:ext cx="5867402" cy="457200"/>
          </a:xfrm>
          <a:prstGeom prst="rect">
            <a:avLst/>
          </a:prstGeom>
        </p:spPr>
        <p:txBody>
          <a:bodyPr vert="horz" lIns="0" tIns="45720" rIns="91440" bIns="45720" rtlCol="0">
            <a:normAutofit/>
          </a:bodyPr>
          <a:lstStyle>
            <a:lvl1pPr marL="342900" indent="-342900" algn="l" defTabSz="457200" rtl="0" eaLnBrk="1" latinLnBrk="0" hangingPunct="1">
              <a:spcBef>
                <a:spcPct val="20000"/>
              </a:spcBef>
              <a:buFont typeface="Arial"/>
              <a:buChar char="•"/>
              <a:defRPr sz="2800" b="0" i="0" kern="1200">
                <a:solidFill>
                  <a:srgbClr val="002B5C"/>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002B5C"/>
                </a:solidFill>
                <a:latin typeface="Georgia"/>
                <a:ea typeface="+mn-ea"/>
                <a:cs typeface="Georgia"/>
              </a:defRPr>
            </a:lvl2pPr>
            <a:lvl3pPr marL="1143000" indent="-228600" algn="l" defTabSz="457200" rtl="0" eaLnBrk="1" latinLnBrk="0" hangingPunct="1">
              <a:spcBef>
                <a:spcPct val="20000"/>
              </a:spcBef>
              <a:buFont typeface="Arial"/>
              <a:buChar char="•"/>
              <a:defRPr sz="1800" b="0" i="0" kern="1200">
                <a:solidFill>
                  <a:srgbClr val="002B5C"/>
                </a:solidFill>
                <a:latin typeface="Arial"/>
                <a:ea typeface="+mn-ea"/>
                <a:cs typeface="Arial"/>
              </a:defRPr>
            </a:lvl3pPr>
            <a:lvl4pPr marL="1600200" indent="-228600" algn="l" defTabSz="457200" rtl="0" eaLnBrk="1" latinLnBrk="0" hangingPunct="1">
              <a:spcBef>
                <a:spcPct val="20000"/>
              </a:spcBef>
              <a:buFont typeface="Arial"/>
              <a:buChar char="–"/>
              <a:defRPr sz="1400" b="0" i="0" kern="1200">
                <a:solidFill>
                  <a:srgbClr val="002B5C"/>
                </a:solidFill>
                <a:latin typeface="Georgia"/>
                <a:ea typeface="+mn-ea"/>
                <a:cs typeface="Georgia"/>
              </a:defRPr>
            </a:lvl4pPr>
            <a:lvl5pPr marL="2057400" indent="-228600" algn="l" defTabSz="457200" rtl="0" eaLnBrk="1" latinLnBrk="0" hangingPunct="1">
              <a:spcBef>
                <a:spcPct val="20000"/>
              </a:spcBef>
              <a:buFont typeface="Arial"/>
              <a:buChar char="»"/>
              <a:defRPr sz="1200" b="0" i="0" kern="1200">
                <a:solidFill>
                  <a:srgbClr val="002B5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2400" i="1" dirty="0"/>
              <a:t>which shows up naturally in regression via</a:t>
            </a:r>
            <a:endParaRPr lang="en-US" sz="2400" dirty="0"/>
          </a:p>
        </p:txBody>
      </p:sp>
      <p:sp>
        <p:nvSpPr>
          <p:cNvPr id="15" name="Content Placeholder 9">
            <a:extLst>
              <a:ext uri="{FF2B5EF4-FFF2-40B4-BE49-F238E27FC236}">
                <a16:creationId xmlns:a16="http://schemas.microsoft.com/office/drawing/2014/main" id="{EABC0D2D-F2F5-4CF9-B4FB-BA36DB502143}"/>
              </a:ext>
            </a:extLst>
          </p:cNvPr>
          <p:cNvSpPr txBox="1">
            <a:spLocks/>
          </p:cNvSpPr>
          <p:nvPr/>
        </p:nvSpPr>
        <p:spPr>
          <a:xfrm>
            <a:off x="3808267" y="3622677"/>
            <a:ext cx="464127" cy="457200"/>
          </a:xfrm>
          <a:prstGeom prst="rect">
            <a:avLst/>
          </a:prstGeom>
        </p:spPr>
        <p:txBody>
          <a:bodyPr vert="horz" lIns="0" tIns="45720" rIns="91440" bIns="45720" rtlCol="0">
            <a:normAutofit/>
          </a:bodyPr>
          <a:lstStyle>
            <a:lvl1pPr marL="342900" indent="-342900" algn="l" defTabSz="457200" rtl="0" eaLnBrk="1" latinLnBrk="0" hangingPunct="1">
              <a:spcBef>
                <a:spcPct val="20000"/>
              </a:spcBef>
              <a:buFont typeface="Arial"/>
              <a:buChar char="•"/>
              <a:defRPr sz="2800" b="0" i="0" kern="1200">
                <a:solidFill>
                  <a:srgbClr val="002B5C"/>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002B5C"/>
                </a:solidFill>
                <a:latin typeface="Georgia"/>
                <a:ea typeface="+mn-ea"/>
                <a:cs typeface="Georgia"/>
              </a:defRPr>
            </a:lvl2pPr>
            <a:lvl3pPr marL="1143000" indent="-228600" algn="l" defTabSz="457200" rtl="0" eaLnBrk="1" latinLnBrk="0" hangingPunct="1">
              <a:spcBef>
                <a:spcPct val="20000"/>
              </a:spcBef>
              <a:buFont typeface="Arial"/>
              <a:buChar char="•"/>
              <a:defRPr sz="1800" b="0" i="0" kern="1200">
                <a:solidFill>
                  <a:srgbClr val="002B5C"/>
                </a:solidFill>
                <a:latin typeface="Arial"/>
                <a:ea typeface="+mn-ea"/>
                <a:cs typeface="Arial"/>
              </a:defRPr>
            </a:lvl3pPr>
            <a:lvl4pPr marL="1600200" indent="-228600" algn="l" defTabSz="457200" rtl="0" eaLnBrk="1" latinLnBrk="0" hangingPunct="1">
              <a:spcBef>
                <a:spcPct val="20000"/>
              </a:spcBef>
              <a:buFont typeface="Arial"/>
              <a:buChar char="–"/>
              <a:defRPr sz="1400" b="0" i="0" kern="1200">
                <a:solidFill>
                  <a:srgbClr val="002B5C"/>
                </a:solidFill>
                <a:latin typeface="Georgia"/>
                <a:ea typeface="+mn-ea"/>
                <a:cs typeface="Georgia"/>
              </a:defRPr>
            </a:lvl4pPr>
            <a:lvl5pPr marL="2057400" indent="-228600" algn="l" defTabSz="457200" rtl="0" eaLnBrk="1" latinLnBrk="0" hangingPunct="1">
              <a:spcBef>
                <a:spcPct val="20000"/>
              </a:spcBef>
              <a:buFont typeface="Arial"/>
              <a:buChar char="»"/>
              <a:defRPr sz="1200" b="0" i="0" kern="1200">
                <a:solidFill>
                  <a:srgbClr val="002B5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2400" i="1" dirty="0"/>
              <a:t>,</a:t>
            </a:r>
            <a:endParaRPr lang="en-US" sz="2400" dirty="0"/>
          </a:p>
        </p:txBody>
      </p:sp>
      <p:pic>
        <p:nvPicPr>
          <p:cNvPr id="16" name="Picture 15">
            <a:extLst>
              <a:ext uri="{FF2B5EF4-FFF2-40B4-BE49-F238E27FC236}">
                <a16:creationId xmlns:a16="http://schemas.microsoft.com/office/drawing/2014/main" id="{55CDD4F8-45C2-4678-9897-A627527C91CA}"/>
              </a:ext>
            </a:extLst>
          </p:cNvPr>
          <p:cNvPicPr>
            <a:picLocks noChangeAspect="1"/>
          </p:cNvPicPr>
          <p:nvPr/>
        </p:nvPicPr>
        <p:blipFill>
          <a:blip r:embed="rId6"/>
          <a:stretch>
            <a:fillRect/>
          </a:stretch>
        </p:blipFill>
        <p:spPr>
          <a:xfrm>
            <a:off x="2452685" y="5153025"/>
            <a:ext cx="4238625" cy="561975"/>
          </a:xfrm>
          <a:prstGeom prst="rect">
            <a:avLst/>
          </a:prstGeom>
        </p:spPr>
      </p:pic>
    </p:spTree>
    <p:extLst>
      <p:ext uri="{BB962C8B-B14F-4D97-AF65-F5344CB8AC3E}">
        <p14:creationId xmlns:p14="http://schemas.microsoft.com/office/powerpoint/2010/main" val="1267086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a:t>Implementation</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14</a:t>
            </a:fld>
            <a:endParaRPr lang="en-US"/>
          </a:p>
        </p:txBody>
      </p:sp>
      <p:sp>
        <p:nvSpPr>
          <p:cNvPr id="6" name="Title 1">
            <a:extLst>
              <a:ext uri="{FF2B5EF4-FFF2-40B4-BE49-F238E27FC236}">
                <a16:creationId xmlns:a16="http://schemas.microsoft.com/office/drawing/2014/main" id="{846B6ED4-FF3E-41A0-BF8B-E8078567F762}"/>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Leverage</a:t>
            </a:r>
          </a:p>
        </p:txBody>
      </p:sp>
      <p:pic>
        <p:nvPicPr>
          <p:cNvPr id="7" name="Picture 6">
            <a:extLst>
              <a:ext uri="{FF2B5EF4-FFF2-40B4-BE49-F238E27FC236}">
                <a16:creationId xmlns:a16="http://schemas.microsoft.com/office/drawing/2014/main" id="{C8394554-502F-4145-80EB-CBC9B8B83925}"/>
              </a:ext>
            </a:extLst>
          </p:cNvPr>
          <p:cNvPicPr>
            <a:picLocks noChangeAspect="1"/>
          </p:cNvPicPr>
          <p:nvPr/>
        </p:nvPicPr>
        <p:blipFill>
          <a:blip r:embed="rId3"/>
          <a:stretch>
            <a:fillRect/>
          </a:stretch>
        </p:blipFill>
        <p:spPr>
          <a:xfrm>
            <a:off x="550961" y="2971800"/>
            <a:ext cx="8042077" cy="1447800"/>
          </a:xfrm>
          <a:prstGeom prst="rect">
            <a:avLst/>
          </a:prstGeom>
          <a:ln>
            <a:solidFill>
              <a:schemeClr val="accent1"/>
            </a:solidFill>
          </a:ln>
        </p:spPr>
      </p:pic>
      <p:pic>
        <p:nvPicPr>
          <p:cNvPr id="10" name="Picture 9">
            <a:extLst>
              <a:ext uri="{FF2B5EF4-FFF2-40B4-BE49-F238E27FC236}">
                <a16:creationId xmlns:a16="http://schemas.microsoft.com/office/drawing/2014/main" id="{DFB8A232-1427-45C6-97F7-012CB46A72D0}"/>
              </a:ext>
            </a:extLst>
          </p:cNvPr>
          <p:cNvPicPr>
            <a:picLocks noChangeAspect="1"/>
          </p:cNvPicPr>
          <p:nvPr/>
        </p:nvPicPr>
        <p:blipFill>
          <a:blip r:embed="rId4"/>
          <a:stretch>
            <a:fillRect/>
          </a:stretch>
        </p:blipFill>
        <p:spPr>
          <a:xfrm>
            <a:off x="1192039" y="4953001"/>
            <a:ext cx="6759921" cy="1066800"/>
          </a:xfrm>
          <a:prstGeom prst="rect">
            <a:avLst/>
          </a:prstGeom>
          <a:ln>
            <a:solidFill>
              <a:schemeClr val="accent1"/>
            </a:solidFill>
          </a:ln>
        </p:spPr>
      </p:pic>
      <p:sp>
        <p:nvSpPr>
          <p:cNvPr id="17" name="Content Placeholder 9">
            <a:extLst>
              <a:ext uri="{FF2B5EF4-FFF2-40B4-BE49-F238E27FC236}">
                <a16:creationId xmlns:a16="http://schemas.microsoft.com/office/drawing/2014/main" id="{374965CE-51DA-4A63-BCB6-21F5BDE936E3}"/>
              </a:ext>
            </a:extLst>
          </p:cNvPr>
          <p:cNvSpPr txBox="1">
            <a:spLocks/>
          </p:cNvSpPr>
          <p:nvPr/>
        </p:nvSpPr>
        <p:spPr>
          <a:xfrm>
            <a:off x="1295400" y="1981200"/>
            <a:ext cx="6553200" cy="713798"/>
          </a:xfrm>
          <a:prstGeom prst="rect">
            <a:avLst/>
          </a:prstGeom>
        </p:spPr>
        <p:txBody>
          <a:bodyPr vert="horz" lIns="0" tIns="45720" rIns="91440" bIns="45720" rtlCol="0">
            <a:normAutofit/>
          </a:bodyPr>
          <a:lstStyle>
            <a:lvl1pPr marL="342900" indent="-342900" algn="l" defTabSz="457200" rtl="0" eaLnBrk="1" latinLnBrk="0" hangingPunct="1">
              <a:spcBef>
                <a:spcPct val="20000"/>
              </a:spcBef>
              <a:buFont typeface="Arial"/>
              <a:buChar char="•"/>
              <a:defRPr sz="2800" b="0" i="0" kern="1200">
                <a:solidFill>
                  <a:srgbClr val="002B5C"/>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002B5C"/>
                </a:solidFill>
                <a:latin typeface="Georgia"/>
                <a:ea typeface="+mn-ea"/>
                <a:cs typeface="Georgia"/>
              </a:defRPr>
            </a:lvl2pPr>
            <a:lvl3pPr marL="1143000" indent="-228600" algn="l" defTabSz="457200" rtl="0" eaLnBrk="1" latinLnBrk="0" hangingPunct="1">
              <a:spcBef>
                <a:spcPct val="20000"/>
              </a:spcBef>
              <a:buFont typeface="Arial"/>
              <a:buChar char="•"/>
              <a:defRPr sz="1800" b="0" i="0" kern="1200">
                <a:solidFill>
                  <a:srgbClr val="002B5C"/>
                </a:solidFill>
                <a:latin typeface="Arial"/>
                <a:ea typeface="+mn-ea"/>
                <a:cs typeface="Arial"/>
              </a:defRPr>
            </a:lvl3pPr>
            <a:lvl4pPr marL="1600200" indent="-228600" algn="l" defTabSz="457200" rtl="0" eaLnBrk="1" latinLnBrk="0" hangingPunct="1">
              <a:spcBef>
                <a:spcPct val="20000"/>
              </a:spcBef>
              <a:buFont typeface="Arial"/>
              <a:buChar char="–"/>
              <a:defRPr sz="1400" b="0" i="0" kern="1200">
                <a:solidFill>
                  <a:srgbClr val="002B5C"/>
                </a:solidFill>
                <a:latin typeface="Georgia"/>
                <a:ea typeface="+mn-ea"/>
                <a:cs typeface="Georgia"/>
              </a:defRPr>
            </a:lvl4pPr>
            <a:lvl5pPr marL="2057400" indent="-228600" algn="l" defTabSz="457200" rtl="0" eaLnBrk="1" latinLnBrk="0" hangingPunct="1">
              <a:spcBef>
                <a:spcPct val="20000"/>
              </a:spcBef>
              <a:buFont typeface="Arial"/>
              <a:buChar char="»"/>
              <a:defRPr sz="1200" b="0" i="0" kern="1200">
                <a:solidFill>
                  <a:srgbClr val="002B5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400" dirty="0"/>
              <a:t>Luckily we don’t have to do the math ourselves!</a:t>
            </a:r>
          </a:p>
        </p:txBody>
      </p:sp>
    </p:spTree>
    <p:extLst>
      <p:ext uri="{BB962C8B-B14F-4D97-AF65-F5344CB8AC3E}">
        <p14:creationId xmlns:p14="http://schemas.microsoft.com/office/powerpoint/2010/main" val="42141518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a:t>Studentized Residuals</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15</a:t>
            </a:fld>
            <a:endParaRPr lang="en-US"/>
          </a:p>
        </p:txBody>
      </p:sp>
      <p:sp>
        <p:nvSpPr>
          <p:cNvPr id="6" name="Title 1">
            <a:extLst>
              <a:ext uri="{FF2B5EF4-FFF2-40B4-BE49-F238E27FC236}">
                <a16:creationId xmlns:a16="http://schemas.microsoft.com/office/drawing/2014/main" id="{846B6ED4-FF3E-41A0-BF8B-E8078567F762}"/>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Leverage</a:t>
            </a:r>
          </a:p>
        </p:txBody>
      </p:sp>
      <p:pic>
        <p:nvPicPr>
          <p:cNvPr id="3" name="Picture 2">
            <a:extLst>
              <a:ext uri="{FF2B5EF4-FFF2-40B4-BE49-F238E27FC236}">
                <a16:creationId xmlns:a16="http://schemas.microsoft.com/office/drawing/2014/main" id="{2BF3C020-D6EF-4393-95A0-FE17FD0930F9}"/>
              </a:ext>
            </a:extLst>
          </p:cNvPr>
          <p:cNvPicPr>
            <a:picLocks noChangeAspect="1"/>
          </p:cNvPicPr>
          <p:nvPr/>
        </p:nvPicPr>
        <p:blipFill>
          <a:blip r:embed="rId3"/>
          <a:stretch>
            <a:fillRect/>
          </a:stretch>
        </p:blipFill>
        <p:spPr>
          <a:xfrm>
            <a:off x="1371600" y="1388269"/>
            <a:ext cx="5685406" cy="5362575"/>
          </a:xfrm>
          <a:prstGeom prst="rect">
            <a:avLst/>
          </a:prstGeom>
        </p:spPr>
      </p:pic>
      <p:pic>
        <p:nvPicPr>
          <p:cNvPr id="7" name="Picture 6">
            <a:extLst>
              <a:ext uri="{FF2B5EF4-FFF2-40B4-BE49-F238E27FC236}">
                <a16:creationId xmlns:a16="http://schemas.microsoft.com/office/drawing/2014/main" id="{59787504-8FB9-4787-BD1D-0D2A059394FA}"/>
              </a:ext>
            </a:extLst>
          </p:cNvPr>
          <p:cNvPicPr>
            <a:picLocks noChangeAspect="1"/>
          </p:cNvPicPr>
          <p:nvPr/>
        </p:nvPicPr>
        <p:blipFill>
          <a:blip r:embed="rId4"/>
          <a:stretch>
            <a:fillRect/>
          </a:stretch>
        </p:blipFill>
        <p:spPr>
          <a:xfrm>
            <a:off x="457200" y="6409531"/>
            <a:ext cx="2105974" cy="319087"/>
          </a:xfrm>
          <a:prstGeom prst="rect">
            <a:avLst/>
          </a:prstGeom>
        </p:spPr>
      </p:pic>
    </p:spTree>
    <p:extLst>
      <p:ext uri="{BB962C8B-B14F-4D97-AF65-F5344CB8AC3E}">
        <p14:creationId xmlns:p14="http://schemas.microsoft.com/office/powerpoint/2010/main" val="35663422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A71CF95-9601-4DBD-BAC1-45D93B09BE5D}"/>
              </a:ext>
            </a:extLst>
          </p:cNvPr>
          <p:cNvPicPr>
            <a:picLocks noChangeAspect="1"/>
          </p:cNvPicPr>
          <p:nvPr/>
        </p:nvPicPr>
        <p:blipFill>
          <a:blip r:embed="rId3"/>
          <a:stretch>
            <a:fillRect/>
          </a:stretch>
        </p:blipFill>
        <p:spPr>
          <a:xfrm>
            <a:off x="1546534" y="1445491"/>
            <a:ext cx="5189723" cy="4855441"/>
          </a:xfrm>
          <a:prstGeom prst="rect">
            <a:avLst/>
          </a:prstGeom>
        </p:spPr>
      </p:pic>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a:t>Visual Intuition</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16</a:t>
            </a:fld>
            <a:endParaRPr lang="en-US"/>
          </a:p>
        </p:txBody>
      </p:sp>
      <p:sp>
        <p:nvSpPr>
          <p:cNvPr id="6" name="Title 1">
            <a:extLst>
              <a:ext uri="{FF2B5EF4-FFF2-40B4-BE49-F238E27FC236}">
                <a16:creationId xmlns:a16="http://schemas.microsoft.com/office/drawing/2014/main" id="{846B6ED4-FF3E-41A0-BF8B-E8078567F762}"/>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Cook’s Distance</a:t>
            </a:r>
          </a:p>
        </p:txBody>
      </p:sp>
      <p:pic>
        <p:nvPicPr>
          <p:cNvPr id="5" name="Picture 4">
            <a:extLst>
              <a:ext uri="{FF2B5EF4-FFF2-40B4-BE49-F238E27FC236}">
                <a16:creationId xmlns:a16="http://schemas.microsoft.com/office/drawing/2014/main" id="{648849F7-E737-48E8-8AC7-E60B83FA9DD0}"/>
              </a:ext>
            </a:extLst>
          </p:cNvPr>
          <p:cNvPicPr>
            <a:picLocks noChangeAspect="1"/>
          </p:cNvPicPr>
          <p:nvPr/>
        </p:nvPicPr>
        <p:blipFill>
          <a:blip r:embed="rId4"/>
          <a:stretch>
            <a:fillRect/>
          </a:stretch>
        </p:blipFill>
        <p:spPr>
          <a:xfrm>
            <a:off x="4800600" y="1844820"/>
            <a:ext cx="316302" cy="381000"/>
          </a:xfrm>
          <a:prstGeom prst="rect">
            <a:avLst/>
          </a:prstGeom>
        </p:spPr>
      </p:pic>
      <p:cxnSp>
        <p:nvCxnSpPr>
          <p:cNvPr id="12" name="Connector: Curved 11">
            <a:extLst>
              <a:ext uri="{FF2B5EF4-FFF2-40B4-BE49-F238E27FC236}">
                <a16:creationId xmlns:a16="http://schemas.microsoft.com/office/drawing/2014/main" id="{365E1CD5-5CB8-4E2F-9A21-97B4FAE0A3EC}"/>
              </a:ext>
            </a:extLst>
          </p:cNvPr>
          <p:cNvCxnSpPr>
            <a:cxnSpLocks/>
          </p:cNvCxnSpPr>
          <p:nvPr/>
        </p:nvCxnSpPr>
        <p:spPr>
          <a:xfrm>
            <a:off x="5116902" y="1981200"/>
            <a:ext cx="914400" cy="381000"/>
          </a:xfrm>
          <a:prstGeom prst="curvedConnector3">
            <a:avLst>
              <a:gd name="adj1" fmla="val 9949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E2EEA3E1-90B2-4AF4-A366-D93994A11EDA}"/>
              </a:ext>
            </a:extLst>
          </p:cNvPr>
          <p:cNvCxnSpPr/>
          <p:nvPr/>
        </p:nvCxnSpPr>
        <p:spPr>
          <a:xfrm flipV="1">
            <a:off x="6096000" y="2819400"/>
            <a:ext cx="0" cy="762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B64AC641-9C3F-4C52-8E32-5052987BC33D}"/>
              </a:ext>
            </a:extLst>
          </p:cNvPr>
          <p:cNvPicPr>
            <a:picLocks noChangeAspect="1"/>
          </p:cNvPicPr>
          <p:nvPr/>
        </p:nvPicPr>
        <p:blipFill>
          <a:blip r:embed="rId5"/>
          <a:stretch>
            <a:fillRect/>
          </a:stretch>
        </p:blipFill>
        <p:spPr>
          <a:xfrm>
            <a:off x="5740829" y="3628880"/>
            <a:ext cx="710341" cy="381001"/>
          </a:xfrm>
          <a:prstGeom prst="rect">
            <a:avLst/>
          </a:prstGeom>
        </p:spPr>
      </p:pic>
      <p:pic>
        <p:nvPicPr>
          <p:cNvPr id="11" name="Picture 10">
            <a:extLst>
              <a:ext uri="{FF2B5EF4-FFF2-40B4-BE49-F238E27FC236}">
                <a16:creationId xmlns:a16="http://schemas.microsoft.com/office/drawing/2014/main" id="{DD0287E3-9C8A-4103-AC89-D0159F38BB8E}"/>
              </a:ext>
            </a:extLst>
          </p:cNvPr>
          <p:cNvPicPr>
            <a:picLocks noChangeAspect="1"/>
          </p:cNvPicPr>
          <p:nvPr/>
        </p:nvPicPr>
        <p:blipFill>
          <a:blip r:embed="rId6"/>
          <a:stretch>
            <a:fillRect/>
          </a:stretch>
        </p:blipFill>
        <p:spPr>
          <a:xfrm>
            <a:off x="457200" y="6409531"/>
            <a:ext cx="2105974" cy="319087"/>
          </a:xfrm>
          <a:prstGeom prst="rect">
            <a:avLst/>
          </a:prstGeom>
        </p:spPr>
      </p:pic>
    </p:spTree>
    <p:extLst>
      <p:ext uri="{BB962C8B-B14F-4D97-AF65-F5344CB8AC3E}">
        <p14:creationId xmlns:p14="http://schemas.microsoft.com/office/powerpoint/2010/main" val="1512543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a:t>Implementation</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17</a:t>
            </a:fld>
            <a:endParaRPr lang="en-US"/>
          </a:p>
        </p:txBody>
      </p:sp>
      <p:pic>
        <p:nvPicPr>
          <p:cNvPr id="3" name="Picture 2">
            <a:extLst>
              <a:ext uri="{FF2B5EF4-FFF2-40B4-BE49-F238E27FC236}">
                <a16:creationId xmlns:a16="http://schemas.microsoft.com/office/drawing/2014/main" id="{B216ADB5-E5BB-4583-A8B7-0A9E06AD1CFD}"/>
              </a:ext>
            </a:extLst>
          </p:cNvPr>
          <p:cNvPicPr>
            <a:picLocks noChangeAspect="1"/>
          </p:cNvPicPr>
          <p:nvPr/>
        </p:nvPicPr>
        <p:blipFill>
          <a:blip r:embed="rId3"/>
          <a:stretch>
            <a:fillRect/>
          </a:stretch>
        </p:blipFill>
        <p:spPr>
          <a:xfrm>
            <a:off x="2433637" y="1800225"/>
            <a:ext cx="4276725" cy="409575"/>
          </a:xfrm>
          <a:prstGeom prst="rect">
            <a:avLst/>
          </a:prstGeom>
        </p:spPr>
      </p:pic>
      <p:sp>
        <p:nvSpPr>
          <p:cNvPr id="17" name="Content Placeholder 9">
            <a:extLst>
              <a:ext uri="{FF2B5EF4-FFF2-40B4-BE49-F238E27FC236}">
                <a16:creationId xmlns:a16="http://schemas.microsoft.com/office/drawing/2014/main" id="{EF03E97D-6F34-430F-864F-E62C0ABA37EC}"/>
              </a:ext>
            </a:extLst>
          </p:cNvPr>
          <p:cNvSpPr txBox="1">
            <a:spLocks/>
          </p:cNvSpPr>
          <p:nvPr/>
        </p:nvSpPr>
        <p:spPr>
          <a:xfrm>
            <a:off x="1084117" y="2468562"/>
            <a:ext cx="6975763" cy="808038"/>
          </a:xfrm>
          <a:prstGeom prst="rect">
            <a:avLst/>
          </a:prstGeom>
        </p:spPr>
        <p:txBody>
          <a:bodyPr vert="horz" lIns="0" tIns="45720" rIns="91440" bIns="45720" rtlCol="0">
            <a:normAutofit lnSpcReduction="10000"/>
          </a:bodyPr>
          <a:lstStyle>
            <a:lvl1pPr marL="342900" indent="-342900" algn="l" defTabSz="457200" rtl="0" eaLnBrk="1" latinLnBrk="0" hangingPunct="1">
              <a:spcBef>
                <a:spcPct val="20000"/>
              </a:spcBef>
              <a:buFont typeface="Arial"/>
              <a:buChar char="•"/>
              <a:defRPr sz="2800" b="0" i="0" kern="1200">
                <a:solidFill>
                  <a:srgbClr val="002B5C"/>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002B5C"/>
                </a:solidFill>
                <a:latin typeface="Georgia"/>
                <a:ea typeface="+mn-ea"/>
                <a:cs typeface="Georgia"/>
              </a:defRPr>
            </a:lvl2pPr>
            <a:lvl3pPr marL="1143000" indent="-228600" algn="l" defTabSz="457200" rtl="0" eaLnBrk="1" latinLnBrk="0" hangingPunct="1">
              <a:spcBef>
                <a:spcPct val="20000"/>
              </a:spcBef>
              <a:buFont typeface="Arial"/>
              <a:buChar char="•"/>
              <a:defRPr sz="1800" b="0" i="0" kern="1200">
                <a:solidFill>
                  <a:srgbClr val="002B5C"/>
                </a:solidFill>
                <a:latin typeface="Arial"/>
                <a:ea typeface="+mn-ea"/>
                <a:cs typeface="Arial"/>
              </a:defRPr>
            </a:lvl3pPr>
            <a:lvl4pPr marL="1600200" indent="-228600" algn="l" defTabSz="457200" rtl="0" eaLnBrk="1" latinLnBrk="0" hangingPunct="1">
              <a:spcBef>
                <a:spcPct val="20000"/>
              </a:spcBef>
              <a:buFont typeface="Arial"/>
              <a:buChar char="–"/>
              <a:defRPr sz="1400" b="0" i="0" kern="1200">
                <a:solidFill>
                  <a:srgbClr val="002B5C"/>
                </a:solidFill>
                <a:latin typeface="Georgia"/>
                <a:ea typeface="+mn-ea"/>
                <a:cs typeface="Georgia"/>
              </a:defRPr>
            </a:lvl4pPr>
            <a:lvl5pPr marL="2057400" indent="-228600" algn="l" defTabSz="457200" rtl="0" eaLnBrk="1" latinLnBrk="0" hangingPunct="1">
              <a:spcBef>
                <a:spcPct val="20000"/>
              </a:spcBef>
              <a:buFont typeface="Arial"/>
              <a:buChar char="»"/>
              <a:defRPr sz="1200" b="0" i="0" kern="1200">
                <a:solidFill>
                  <a:srgbClr val="002B5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2400" dirty="0"/>
              <a:t>To make the metric more comparable across models with varying numbers of predictors: </a:t>
            </a:r>
          </a:p>
        </p:txBody>
      </p:sp>
      <p:pic>
        <p:nvPicPr>
          <p:cNvPr id="5" name="Picture 4">
            <a:extLst>
              <a:ext uri="{FF2B5EF4-FFF2-40B4-BE49-F238E27FC236}">
                <a16:creationId xmlns:a16="http://schemas.microsoft.com/office/drawing/2014/main" id="{91D03B1D-D133-4D33-9A9A-608C7D8292E8}"/>
              </a:ext>
            </a:extLst>
          </p:cNvPr>
          <p:cNvPicPr>
            <a:picLocks noChangeAspect="1"/>
          </p:cNvPicPr>
          <p:nvPr/>
        </p:nvPicPr>
        <p:blipFill>
          <a:blip r:embed="rId4"/>
          <a:stretch>
            <a:fillRect/>
          </a:stretch>
        </p:blipFill>
        <p:spPr>
          <a:xfrm>
            <a:off x="2943225" y="3505200"/>
            <a:ext cx="3257550" cy="714375"/>
          </a:xfrm>
          <a:prstGeom prst="rect">
            <a:avLst/>
          </a:prstGeom>
        </p:spPr>
      </p:pic>
      <p:sp>
        <p:nvSpPr>
          <p:cNvPr id="18" name="Content Placeholder 9">
            <a:extLst>
              <a:ext uri="{FF2B5EF4-FFF2-40B4-BE49-F238E27FC236}">
                <a16:creationId xmlns:a16="http://schemas.microsoft.com/office/drawing/2014/main" id="{B38C0F5C-0E47-4707-92E3-09A95BE0F547}"/>
              </a:ext>
            </a:extLst>
          </p:cNvPr>
          <p:cNvSpPr txBox="1">
            <a:spLocks/>
          </p:cNvSpPr>
          <p:nvPr/>
        </p:nvSpPr>
        <p:spPr>
          <a:xfrm>
            <a:off x="4339935" y="4419600"/>
            <a:ext cx="464127" cy="457200"/>
          </a:xfrm>
          <a:prstGeom prst="rect">
            <a:avLst/>
          </a:prstGeom>
        </p:spPr>
        <p:txBody>
          <a:bodyPr vert="horz" lIns="0" tIns="45720" rIns="91440" bIns="45720" rtlCol="0">
            <a:normAutofit/>
          </a:bodyPr>
          <a:lstStyle>
            <a:lvl1pPr marL="342900" indent="-342900" algn="l" defTabSz="457200" rtl="0" eaLnBrk="1" latinLnBrk="0" hangingPunct="1">
              <a:spcBef>
                <a:spcPct val="20000"/>
              </a:spcBef>
              <a:buFont typeface="Arial"/>
              <a:buChar char="•"/>
              <a:defRPr sz="2800" b="0" i="0" kern="1200">
                <a:solidFill>
                  <a:srgbClr val="002B5C"/>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002B5C"/>
                </a:solidFill>
                <a:latin typeface="Georgia"/>
                <a:ea typeface="+mn-ea"/>
                <a:cs typeface="Georgia"/>
              </a:defRPr>
            </a:lvl2pPr>
            <a:lvl3pPr marL="1143000" indent="-228600" algn="l" defTabSz="457200" rtl="0" eaLnBrk="1" latinLnBrk="0" hangingPunct="1">
              <a:spcBef>
                <a:spcPct val="20000"/>
              </a:spcBef>
              <a:buFont typeface="Arial"/>
              <a:buChar char="•"/>
              <a:defRPr sz="1800" b="0" i="0" kern="1200">
                <a:solidFill>
                  <a:srgbClr val="002B5C"/>
                </a:solidFill>
                <a:latin typeface="Arial"/>
                <a:ea typeface="+mn-ea"/>
                <a:cs typeface="Arial"/>
              </a:defRPr>
            </a:lvl3pPr>
            <a:lvl4pPr marL="1600200" indent="-228600" algn="l" defTabSz="457200" rtl="0" eaLnBrk="1" latinLnBrk="0" hangingPunct="1">
              <a:spcBef>
                <a:spcPct val="20000"/>
              </a:spcBef>
              <a:buFont typeface="Arial"/>
              <a:buChar char="–"/>
              <a:defRPr sz="1400" b="0" i="0" kern="1200">
                <a:solidFill>
                  <a:srgbClr val="002B5C"/>
                </a:solidFill>
                <a:latin typeface="Georgia"/>
                <a:ea typeface="+mn-ea"/>
                <a:cs typeface="Georgia"/>
              </a:defRPr>
            </a:lvl4pPr>
            <a:lvl5pPr marL="2057400" indent="-228600" algn="l" defTabSz="457200" rtl="0" eaLnBrk="1" latinLnBrk="0" hangingPunct="1">
              <a:spcBef>
                <a:spcPct val="20000"/>
              </a:spcBef>
              <a:buFont typeface="Arial"/>
              <a:buChar char="»"/>
              <a:defRPr sz="1200" b="0" i="0" kern="1200">
                <a:solidFill>
                  <a:srgbClr val="002B5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2400" i="1" dirty="0"/>
              <a:t>or</a:t>
            </a:r>
            <a:endParaRPr lang="en-US" sz="2400" dirty="0"/>
          </a:p>
        </p:txBody>
      </p:sp>
      <p:pic>
        <p:nvPicPr>
          <p:cNvPr id="7" name="Picture 6">
            <a:extLst>
              <a:ext uri="{FF2B5EF4-FFF2-40B4-BE49-F238E27FC236}">
                <a16:creationId xmlns:a16="http://schemas.microsoft.com/office/drawing/2014/main" id="{8B70BAD7-A9D5-4B3D-8C47-FE7394808135}"/>
              </a:ext>
            </a:extLst>
          </p:cNvPr>
          <p:cNvPicPr>
            <a:picLocks noChangeAspect="1"/>
          </p:cNvPicPr>
          <p:nvPr/>
        </p:nvPicPr>
        <p:blipFill>
          <a:blip r:embed="rId5"/>
          <a:stretch>
            <a:fillRect/>
          </a:stretch>
        </p:blipFill>
        <p:spPr>
          <a:xfrm>
            <a:off x="3305175" y="5076825"/>
            <a:ext cx="2533650" cy="771525"/>
          </a:xfrm>
          <a:prstGeom prst="rect">
            <a:avLst/>
          </a:prstGeom>
        </p:spPr>
      </p:pic>
      <p:sp>
        <p:nvSpPr>
          <p:cNvPr id="19" name="Title 1">
            <a:extLst>
              <a:ext uri="{FF2B5EF4-FFF2-40B4-BE49-F238E27FC236}">
                <a16:creationId xmlns:a16="http://schemas.microsoft.com/office/drawing/2014/main" id="{DCDDC341-1336-427B-9D94-B38A58284D99}"/>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Cook’s Distance</a:t>
            </a:r>
          </a:p>
        </p:txBody>
      </p:sp>
    </p:spTree>
    <p:extLst>
      <p:ext uri="{BB962C8B-B14F-4D97-AF65-F5344CB8AC3E}">
        <p14:creationId xmlns:p14="http://schemas.microsoft.com/office/powerpoint/2010/main" val="2439467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a:t>Implementation</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18</a:t>
            </a:fld>
            <a:endParaRPr lang="en-US"/>
          </a:p>
        </p:txBody>
      </p:sp>
      <p:sp>
        <p:nvSpPr>
          <p:cNvPr id="17" name="Content Placeholder 9">
            <a:extLst>
              <a:ext uri="{FF2B5EF4-FFF2-40B4-BE49-F238E27FC236}">
                <a16:creationId xmlns:a16="http://schemas.microsoft.com/office/drawing/2014/main" id="{374965CE-51DA-4A63-BCB6-21F5BDE936E3}"/>
              </a:ext>
            </a:extLst>
          </p:cNvPr>
          <p:cNvSpPr txBox="1">
            <a:spLocks/>
          </p:cNvSpPr>
          <p:nvPr/>
        </p:nvSpPr>
        <p:spPr>
          <a:xfrm>
            <a:off x="1295400" y="1981200"/>
            <a:ext cx="6553200" cy="713798"/>
          </a:xfrm>
          <a:prstGeom prst="rect">
            <a:avLst/>
          </a:prstGeom>
        </p:spPr>
        <p:txBody>
          <a:bodyPr vert="horz" lIns="0" tIns="45720" rIns="91440" bIns="45720" rtlCol="0">
            <a:normAutofit/>
          </a:bodyPr>
          <a:lstStyle>
            <a:lvl1pPr marL="342900" indent="-342900" algn="l" defTabSz="457200" rtl="0" eaLnBrk="1" latinLnBrk="0" hangingPunct="1">
              <a:spcBef>
                <a:spcPct val="20000"/>
              </a:spcBef>
              <a:buFont typeface="Arial"/>
              <a:buChar char="•"/>
              <a:defRPr sz="2800" b="0" i="0" kern="1200">
                <a:solidFill>
                  <a:srgbClr val="002B5C"/>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002B5C"/>
                </a:solidFill>
                <a:latin typeface="Georgia"/>
                <a:ea typeface="+mn-ea"/>
                <a:cs typeface="Georgia"/>
              </a:defRPr>
            </a:lvl2pPr>
            <a:lvl3pPr marL="1143000" indent="-228600" algn="l" defTabSz="457200" rtl="0" eaLnBrk="1" latinLnBrk="0" hangingPunct="1">
              <a:spcBef>
                <a:spcPct val="20000"/>
              </a:spcBef>
              <a:buFont typeface="Arial"/>
              <a:buChar char="•"/>
              <a:defRPr sz="1800" b="0" i="0" kern="1200">
                <a:solidFill>
                  <a:srgbClr val="002B5C"/>
                </a:solidFill>
                <a:latin typeface="Arial"/>
                <a:ea typeface="+mn-ea"/>
                <a:cs typeface="Arial"/>
              </a:defRPr>
            </a:lvl3pPr>
            <a:lvl4pPr marL="1600200" indent="-228600" algn="l" defTabSz="457200" rtl="0" eaLnBrk="1" latinLnBrk="0" hangingPunct="1">
              <a:spcBef>
                <a:spcPct val="20000"/>
              </a:spcBef>
              <a:buFont typeface="Arial"/>
              <a:buChar char="–"/>
              <a:defRPr sz="1400" b="0" i="0" kern="1200">
                <a:solidFill>
                  <a:srgbClr val="002B5C"/>
                </a:solidFill>
                <a:latin typeface="Georgia"/>
                <a:ea typeface="+mn-ea"/>
                <a:cs typeface="Georgia"/>
              </a:defRPr>
            </a:lvl4pPr>
            <a:lvl5pPr marL="2057400" indent="-228600" algn="l" defTabSz="457200" rtl="0" eaLnBrk="1" latinLnBrk="0" hangingPunct="1">
              <a:spcBef>
                <a:spcPct val="20000"/>
              </a:spcBef>
              <a:buFont typeface="Arial"/>
              <a:buChar char="»"/>
              <a:defRPr sz="1200" b="0" i="0" kern="1200">
                <a:solidFill>
                  <a:srgbClr val="002B5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400" dirty="0"/>
              <a:t>Luckily we don’t have to do the math ourselves!</a:t>
            </a:r>
          </a:p>
        </p:txBody>
      </p:sp>
      <p:sp>
        <p:nvSpPr>
          <p:cNvPr id="8" name="Title 1">
            <a:extLst>
              <a:ext uri="{FF2B5EF4-FFF2-40B4-BE49-F238E27FC236}">
                <a16:creationId xmlns:a16="http://schemas.microsoft.com/office/drawing/2014/main" id="{1B952AF1-AA98-4B80-81D2-BE752219A6EE}"/>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Cook’s Distance</a:t>
            </a:r>
          </a:p>
        </p:txBody>
      </p:sp>
      <p:pic>
        <p:nvPicPr>
          <p:cNvPr id="3" name="Picture 2">
            <a:extLst>
              <a:ext uri="{FF2B5EF4-FFF2-40B4-BE49-F238E27FC236}">
                <a16:creationId xmlns:a16="http://schemas.microsoft.com/office/drawing/2014/main" id="{25E91AD2-DD98-4E39-A1E6-FBF66EADE7F1}"/>
              </a:ext>
            </a:extLst>
          </p:cNvPr>
          <p:cNvPicPr>
            <a:picLocks noChangeAspect="1"/>
          </p:cNvPicPr>
          <p:nvPr/>
        </p:nvPicPr>
        <p:blipFill>
          <a:blip r:embed="rId3"/>
          <a:stretch>
            <a:fillRect/>
          </a:stretch>
        </p:blipFill>
        <p:spPr>
          <a:xfrm>
            <a:off x="910143" y="2667000"/>
            <a:ext cx="7323714" cy="1509713"/>
          </a:xfrm>
          <a:prstGeom prst="rect">
            <a:avLst/>
          </a:prstGeom>
          <a:ln>
            <a:solidFill>
              <a:schemeClr val="accent1"/>
            </a:solidFill>
          </a:ln>
        </p:spPr>
      </p:pic>
      <p:pic>
        <p:nvPicPr>
          <p:cNvPr id="9" name="Picture 8">
            <a:extLst>
              <a:ext uri="{FF2B5EF4-FFF2-40B4-BE49-F238E27FC236}">
                <a16:creationId xmlns:a16="http://schemas.microsoft.com/office/drawing/2014/main" id="{8E029AAE-4081-40F5-9B07-769D8A7D1A90}"/>
              </a:ext>
            </a:extLst>
          </p:cNvPr>
          <p:cNvPicPr>
            <a:picLocks noChangeAspect="1"/>
          </p:cNvPicPr>
          <p:nvPr/>
        </p:nvPicPr>
        <p:blipFill>
          <a:blip r:embed="rId4"/>
          <a:stretch>
            <a:fillRect/>
          </a:stretch>
        </p:blipFill>
        <p:spPr>
          <a:xfrm>
            <a:off x="1295400" y="4419600"/>
            <a:ext cx="6554364" cy="1271588"/>
          </a:xfrm>
          <a:prstGeom prst="rect">
            <a:avLst/>
          </a:prstGeom>
          <a:ln>
            <a:solidFill>
              <a:schemeClr val="accent1"/>
            </a:solidFill>
          </a:ln>
        </p:spPr>
      </p:pic>
    </p:spTree>
    <p:extLst>
      <p:ext uri="{BB962C8B-B14F-4D97-AF65-F5344CB8AC3E}">
        <p14:creationId xmlns:p14="http://schemas.microsoft.com/office/powerpoint/2010/main" val="2303151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A71CF95-9601-4DBD-BAC1-45D93B09BE5D}"/>
              </a:ext>
            </a:extLst>
          </p:cNvPr>
          <p:cNvPicPr>
            <a:picLocks noChangeAspect="1"/>
          </p:cNvPicPr>
          <p:nvPr/>
        </p:nvPicPr>
        <p:blipFill>
          <a:blip r:embed="rId3"/>
          <a:stretch>
            <a:fillRect/>
          </a:stretch>
        </p:blipFill>
        <p:spPr>
          <a:xfrm>
            <a:off x="1546534" y="1445491"/>
            <a:ext cx="5189723" cy="4855441"/>
          </a:xfrm>
          <a:prstGeom prst="rect">
            <a:avLst/>
          </a:prstGeom>
        </p:spPr>
      </p:pic>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a:t>Visual Intuition</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19</a:t>
            </a:fld>
            <a:endParaRPr lang="en-US"/>
          </a:p>
        </p:txBody>
      </p:sp>
      <p:sp>
        <p:nvSpPr>
          <p:cNvPr id="6" name="Title 1">
            <a:extLst>
              <a:ext uri="{FF2B5EF4-FFF2-40B4-BE49-F238E27FC236}">
                <a16:creationId xmlns:a16="http://schemas.microsoft.com/office/drawing/2014/main" id="{846B6ED4-FF3E-41A0-BF8B-E8078567F762}"/>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DFBETA</a:t>
            </a:r>
          </a:p>
        </p:txBody>
      </p:sp>
      <p:pic>
        <p:nvPicPr>
          <p:cNvPr id="3" name="Picture 2">
            <a:extLst>
              <a:ext uri="{FF2B5EF4-FFF2-40B4-BE49-F238E27FC236}">
                <a16:creationId xmlns:a16="http://schemas.microsoft.com/office/drawing/2014/main" id="{E1B64AF5-20B4-4FCD-A421-F768709A7B10}"/>
              </a:ext>
            </a:extLst>
          </p:cNvPr>
          <p:cNvPicPr>
            <a:picLocks noChangeAspect="1"/>
          </p:cNvPicPr>
          <p:nvPr/>
        </p:nvPicPr>
        <p:blipFill>
          <a:blip r:embed="rId4"/>
          <a:stretch>
            <a:fillRect/>
          </a:stretch>
        </p:blipFill>
        <p:spPr>
          <a:xfrm>
            <a:off x="1022659" y="4837257"/>
            <a:ext cx="523875" cy="542925"/>
          </a:xfrm>
          <a:prstGeom prst="rect">
            <a:avLst/>
          </a:prstGeom>
        </p:spPr>
      </p:pic>
      <p:cxnSp>
        <p:nvCxnSpPr>
          <p:cNvPr id="10" name="Straight Arrow Connector 9">
            <a:extLst>
              <a:ext uri="{FF2B5EF4-FFF2-40B4-BE49-F238E27FC236}">
                <a16:creationId xmlns:a16="http://schemas.microsoft.com/office/drawing/2014/main" id="{96FD1D1F-BBF6-40AF-9DFB-D807B7661BE1}"/>
              </a:ext>
            </a:extLst>
          </p:cNvPr>
          <p:cNvCxnSpPr/>
          <p:nvPr/>
        </p:nvCxnSpPr>
        <p:spPr>
          <a:xfrm flipV="1">
            <a:off x="1676400" y="4953000"/>
            <a:ext cx="838200" cy="1557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4D0A21F-6E26-4DC1-8491-DE820342624E}"/>
              </a:ext>
            </a:extLst>
          </p:cNvPr>
          <p:cNvCxnSpPr/>
          <p:nvPr/>
        </p:nvCxnSpPr>
        <p:spPr>
          <a:xfrm flipH="1">
            <a:off x="4648200" y="3581400"/>
            <a:ext cx="685800" cy="457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F16F6A05-3C11-4999-983C-20EC8AE0C006}"/>
              </a:ext>
            </a:extLst>
          </p:cNvPr>
          <p:cNvCxnSpPr/>
          <p:nvPr/>
        </p:nvCxnSpPr>
        <p:spPr>
          <a:xfrm>
            <a:off x="4648200" y="4038600"/>
            <a:ext cx="685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DAB851-2497-4715-9590-5D57919BD190}"/>
              </a:ext>
            </a:extLst>
          </p:cNvPr>
          <p:cNvCxnSpPr/>
          <p:nvPr/>
        </p:nvCxnSpPr>
        <p:spPr>
          <a:xfrm>
            <a:off x="5334000" y="3581400"/>
            <a:ext cx="0" cy="457200"/>
          </a:xfrm>
          <a:prstGeom prst="line">
            <a:avLst/>
          </a:prstGeom>
        </p:spPr>
        <p:style>
          <a:lnRef idx="2">
            <a:schemeClr val="accent1"/>
          </a:lnRef>
          <a:fillRef idx="0">
            <a:schemeClr val="accent1"/>
          </a:fillRef>
          <a:effectRef idx="1">
            <a:schemeClr val="accent1"/>
          </a:effectRef>
          <a:fontRef idx="minor">
            <a:schemeClr val="tx1"/>
          </a:fontRef>
        </p:style>
      </p:cxnSp>
      <p:pic>
        <p:nvPicPr>
          <p:cNvPr id="24" name="Picture 23">
            <a:extLst>
              <a:ext uri="{FF2B5EF4-FFF2-40B4-BE49-F238E27FC236}">
                <a16:creationId xmlns:a16="http://schemas.microsoft.com/office/drawing/2014/main" id="{FD1ECBE0-CA4F-444A-89C0-46C6B4462C6B}"/>
              </a:ext>
            </a:extLst>
          </p:cNvPr>
          <p:cNvPicPr>
            <a:picLocks noChangeAspect="1"/>
          </p:cNvPicPr>
          <p:nvPr/>
        </p:nvPicPr>
        <p:blipFill>
          <a:blip r:embed="rId5"/>
          <a:stretch>
            <a:fillRect/>
          </a:stretch>
        </p:blipFill>
        <p:spPr>
          <a:xfrm>
            <a:off x="5829300" y="4354657"/>
            <a:ext cx="476250" cy="581025"/>
          </a:xfrm>
          <a:prstGeom prst="rect">
            <a:avLst/>
          </a:prstGeom>
        </p:spPr>
      </p:pic>
      <p:cxnSp>
        <p:nvCxnSpPr>
          <p:cNvPr id="26" name="Straight Arrow Connector 25">
            <a:extLst>
              <a:ext uri="{FF2B5EF4-FFF2-40B4-BE49-F238E27FC236}">
                <a16:creationId xmlns:a16="http://schemas.microsoft.com/office/drawing/2014/main" id="{CC6FDBCD-D740-4F41-8B9B-28CB3A81FDA4}"/>
              </a:ext>
            </a:extLst>
          </p:cNvPr>
          <p:cNvCxnSpPr/>
          <p:nvPr/>
        </p:nvCxnSpPr>
        <p:spPr>
          <a:xfrm flipH="1" flipV="1">
            <a:off x="5410200" y="4114800"/>
            <a:ext cx="381000" cy="3048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id="{F6507FCF-04F0-45B2-9BAA-E71D71A28DF9}"/>
              </a:ext>
            </a:extLst>
          </p:cNvPr>
          <p:cNvPicPr>
            <a:picLocks noChangeAspect="1"/>
          </p:cNvPicPr>
          <p:nvPr/>
        </p:nvPicPr>
        <p:blipFill>
          <a:blip r:embed="rId6"/>
          <a:stretch>
            <a:fillRect/>
          </a:stretch>
        </p:blipFill>
        <p:spPr>
          <a:xfrm>
            <a:off x="457200" y="6409531"/>
            <a:ext cx="2105974" cy="319087"/>
          </a:xfrm>
          <a:prstGeom prst="rect">
            <a:avLst/>
          </a:prstGeom>
        </p:spPr>
      </p:pic>
    </p:spTree>
    <p:extLst>
      <p:ext uri="{BB962C8B-B14F-4D97-AF65-F5344CB8AC3E}">
        <p14:creationId xmlns:p14="http://schemas.microsoft.com/office/powerpoint/2010/main" val="28874119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a:t>Implementation</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20</a:t>
            </a:fld>
            <a:endParaRPr lang="en-US"/>
          </a:p>
        </p:txBody>
      </p:sp>
      <p:sp>
        <p:nvSpPr>
          <p:cNvPr id="17" name="Content Placeholder 9">
            <a:extLst>
              <a:ext uri="{FF2B5EF4-FFF2-40B4-BE49-F238E27FC236}">
                <a16:creationId xmlns:a16="http://schemas.microsoft.com/office/drawing/2014/main" id="{EF03E97D-6F34-430F-864F-E62C0ABA37EC}"/>
              </a:ext>
            </a:extLst>
          </p:cNvPr>
          <p:cNvSpPr txBox="1">
            <a:spLocks/>
          </p:cNvSpPr>
          <p:nvPr/>
        </p:nvSpPr>
        <p:spPr>
          <a:xfrm>
            <a:off x="1084117" y="3124200"/>
            <a:ext cx="6975763" cy="808038"/>
          </a:xfrm>
          <a:prstGeom prst="rect">
            <a:avLst/>
          </a:prstGeom>
        </p:spPr>
        <p:txBody>
          <a:bodyPr vert="horz" lIns="0" tIns="45720" rIns="91440" bIns="45720" rtlCol="0">
            <a:normAutofit lnSpcReduction="10000"/>
          </a:bodyPr>
          <a:lstStyle>
            <a:lvl1pPr marL="342900" indent="-342900" algn="l" defTabSz="457200" rtl="0" eaLnBrk="1" latinLnBrk="0" hangingPunct="1">
              <a:spcBef>
                <a:spcPct val="20000"/>
              </a:spcBef>
              <a:buFont typeface="Arial"/>
              <a:buChar char="•"/>
              <a:defRPr sz="2800" b="0" i="0" kern="1200">
                <a:solidFill>
                  <a:srgbClr val="002B5C"/>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002B5C"/>
                </a:solidFill>
                <a:latin typeface="Georgia"/>
                <a:ea typeface="+mn-ea"/>
                <a:cs typeface="Georgia"/>
              </a:defRPr>
            </a:lvl2pPr>
            <a:lvl3pPr marL="1143000" indent="-228600" algn="l" defTabSz="457200" rtl="0" eaLnBrk="1" latinLnBrk="0" hangingPunct="1">
              <a:spcBef>
                <a:spcPct val="20000"/>
              </a:spcBef>
              <a:buFont typeface="Arial"/>
              <a:buChar char="•"/>
              <a:defRPr sz="1800" b="0" i="0" kern="1200">
                <a:solidFill>
                  <a:srgbClr val="002B5C"/>
                </a:solidFill>
                <a:latin typeface="Arial"/>
                <a:ea typeface="+mn-ea"/>
                <a:cs typeface="Arial"/>
              </a:defRPr>
            </a:lvl3pPr>
            <a:lvl4pPr marL="1600200" indent="-228600" algn="l" defTabSz="457200" rtl="0" eaLnBrk="1" latinLnBrk="0" hangingPunct="1">
              <a:spcBef>
                <a:spcPct val="20000"/>
              </a:spcBef>
              <a:buFont typeface="Arial"/>
              <a:buChar char="–"/>
              <a:defRPr sz="1400" b="0" i="0" kern="1200">
                <a:solidFill>
                  <a:srgbClr val="002B5C"/>
                </a:solidFill>
                <a:latin typeface="Georgia"/>
                <a:ea typeface="+mn-ea"/>
                <a:cs typeface="Georgia"/>
              </a:defRPr>
            </a:lvl4pPr>
            <a:lvl5pPr marL="2057400" indent="-228600" algn="l" defTabSz="457200" rtl="0" eaLnBrk="1" latinLnBrk="0" hangingPunct="1">
              <a:spcBef>
                <a:spcPct val="20000"/>
              </a:spcBef>
              <a:buFont typeface="Arial"/>
              <a:buChar char="»"/>
              <a:defRPr sz="1200" b="0" i="0" kern="1200">
                <a:solidFill>
                  <a:srgbClr val="002B5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2400" dirty="0"/>
              <a:t>It is also common to “standardize” by dividing by the standard error of the </a:t>
            </a:r>
            <a:r>
              <a:rPr lang="en-US" sz="2400" dirty="0" err="1"/>
              <a:t>jth</a:t>
            </a:r>
            <a:r>
              <a:rPr lang="en-US" sz="2400" dirty="0"/>
              <a:t> coefficient: </a:t>
            </a:r>
          </a:p>
        </p:txBody>
      </p:sp>
      <p:sp>
        <p:nvSpPr>
          <p:cNvPr id="10" name="Title 1">
            <a:extLst>
              <a:ext uri="{FF2B5EF4-FFF2-40B4-BE49-F238E27FC236}">
                <a16:creationId xmlns:a16="http://schemas.microsoft.com/office/drawing/2014/main" id="{E37D3C28-C21F-4081-A912-0519FF18FF2F}"/>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DFBETA</a:t>
            </a:r>
          </a:p>
        </p:txBody>
      </p:sp>
      <p:pic>
        <p:nvPicPr>
          <p:cNvPr id="6" name="Picture 5">
            <a:extLst>
              <a:ext uri="{FF2B5EF4-FFF2-40B4-BE49-F238E27FC236}">
                <a16:creationId xmlns:a16="http://schemas.microsoft.com/office/drawing/2014/main" id="{6C6FC28A-7D6D-4E87-BD40-12B1ABA1FE87}"/>
              </a:ext>
            </a:extLst>
          </p:cNvPr>
          <p:cNvPicPr>
            <a:picLocks noChangeAspect="1"/>
          </p:cNvPicPr>
          <p:nvPr/>
        </p:nvPicPr>
        <p:blipFill>
          <a:blip r:embed="rId3"/>
          <a:stretch>
            <a:fillRect/>
          </a:stretch>
        </p:blipFill>
        <p:spPr>
          <a:xfrm>
            <a:off x="1659793" y="1807651"/>
            <a:ext cx="5176773" cy="808038"/>
          </a:xfrm>
          <a:prstGeom prst="rect">
            <a:avLst/>
          </a:prstGeom>
        </p:spPr>
      </p:pic>
      <p:pic>
        <p:nvPicPr>
          <p:cNvPr id="8" name="Picture 7">
            <a:extLst>
              <a:ext uri="{FF2B5EF4-FFF2-40B4-BE49-F238E27FC236}">
                <a16:creationId xmlns:a16="http://schemas.microsoft.com/office/drawing/2014/main" id="{A1BCBCE5-994B-4E2E-A142-51D5BC888560}"/>
              </a:ext>
            </a:extLst>
          </p:cNvPr>
          <p:cNvPicPr>
            <a:picLocks noChangeAspect="1"/>
          </p:cNvPicPr>
          <p:nvPr/>
        </p:nvPicPr>
        <p:blipFill>
          <a:blip r:embed="rId4"/>
          <a:stretch>
            <a:fillRect/>
          </a:stretch>
        </p:blipFill>
        <p:spPr>
          <a:xfrm>
            <a:off x="2257425" y="4467225"/>
            <a:ext cx="4629150" cy="1476375"/>
          </a:xfrm>
          <a:prstGeom prst="rect">
            <a:avLst/>
          </a:prstGeom>
        </p:spPr>
      </p:pic>
    </p:spTree>
    <p:extLst>
      <p:ext uri="{BB962C8B-B14F-4D97-AF65-F5344CB8AC3E}">
        <p14:creationId xmlns:p14="http://schemas.microsoft.com/office/powerpoint/2010/main" val="27663666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a:t>Implementation</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21</a:t>
            </a:fld>
            <a:endParaRPr lang="en-US"/>
          </a:p>
        </p:txBody>
      </p:sp>
      <p:sp>
        <p:nvSpPr>
          <p:cNvPr id="17" name="Content Placeholder 9">
            <a:extLst>
              <a:ext uri="{FF2B5EF4-FFF2-40B4-BE49-F238E27FC236}">
                <a16:creationId xmlns:a16="http://schemas.microsoft.com/office/drawing/2014/main" id="{374965CE-51DA-4A63-BCB6-21F5BDE936E3}"/>
              </a:ext>
            </a:extLst>
          </p:cNvPr>
          <p:cNvSpPr txBox="1">
            <a:spLocks/>
          </p:cNvSpPr>
          <p:nvPr/>
        </p:nvSpPr>
        <p:spPr>
          <a:xfrm>
            <a:off x="1295400" y="1676400"/>
            <a:ext cx="6553200" cy="713798"/>
          </a:xfrm>
          <a:prstGeom prst="rect">
            <a:avLst/>
          </a:prstGeom>
        </p:spPr>
        <p:txBody>
          <a:bodyPr vert="horz" lIns="0" tIns="45720" rIns="91440" bIns="45720" rtlCol="0">
            <a:normAutofit/>
          </a:bodyPr>
          <a:lstStyle>
            <a:lvl1pPr marL="342900" indent="-342900" algn="l" defTabSz="457200" rtl="0" eaLnBrk="1" latinLnBrk="0" hangingPunct="1">
              <a:spcBef>
                <a:spcPct val="20000"/>
              </a:spcBef>
              <a:buFont typeface="Arial"/>
              <a:buChar char="•"/>
              <a:defRPr sz="2800" b="0" i="0" kern="1200">
                <a:solidFill>
                  <a:srgbClr val="002B5C"/>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002B5C"/>
                </a:solidFill>
                <a:latin typeface="Georgia"/>
                <a:ea typeface="+mn-ea"/>
                <a:cs typeface="Georgia"/>
              </a:defRPr>
            </a:lvl2pPr>
            <a:lvl3pPr marL="1143000" indent="-228600" algn="l" defTabSz="457200" rtl="0" eaLnBrk="1" latinLnBrk="0" hangingPunct="1">
              <a:spcBef>
                <a:spcPct val="20000"/>
              </a:spcBef>
              <a:buFont typeface="Arial"/>
              <a:buChar char="•"/>
              <a:defRPr sz="1800" b="0" i="0" kern="1200">
                <a:solidFill>
                  <a:srgbClr val="002B5C"/>
                </a:solidFill>
                <a:latin typeface="Arial"/>
                <a:ea typeface="+mn-ea"/>
                <a:cs typeface="Arial"/>
              </a:defRPr>
            </a:lvl3pPr>
            <a:lvl4pPr marL="1600200" indent="-228600" algn="l" defTabSz="457200" rtl="0" eaLnBrk="1" latinLnBrk="0" hangingPunct="1">
              <a:spcBef>
                <a:spcPct val="20000"/>
              </a:spcBef>
              <a:buFont typeface="Arial"/>
              <a:buChar char="–"/>
              <a:defRPr sz="1400" b="0" i="0" kern="1200">
                <a:solidFill>
                  <a:srgbClr val="002B5C"/>
                </a:solidFill>
                <a:latin typeface="Georgia"/>
                <a:ea typeface="+mn-ea"/>
                <a:cs typeface="Georgia"/>
              </a:defRPr>
            </a:lvl4pPr>
            <a:lvl5pPr marL="2057400" indent="-228600" algn="l" defTabSz="457200" rtl="0" eaLnBrk="1" latinLnBrk="0" hangingPunct="1">
              <a:spcBef>
                <a:spcPct val="20000"/>
              </a:spcBef>
              <a:buFont typeface="Arial"/>
              <a:buChar char="»"/>
              <a:defRPr sz="1200" b="0" i="0" kern="1200">
                <a:solidFill>
                  <a:srgbClr val="002B5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400" dirty="0"/>
              <a:t>Luckily we don’t have to do the math ourselves!</a:t>
            </a:r>
          </a:p>
        </p:txBody>
      </p:sp>
      <p:sp>
        <p:nvSpPr>
          <p:cNvPr id="10" name="Title 1">
            <a:extLst>
              <a:ext uri="{FF2B5EF4-FFF2-40B4-BE49-F238E27FC236}">
                <a16:creationId xmlns:a16="http://schemas.microsoft.com/office/drawing/2014/main" id="{6A6023BF-7644-475B-AAC0-382CC680AD3C}"/>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DFBETA</a:t>
            </a:r>
          </a:p>
        </p:txBody>
      </p:sp>
      <p:pic>
        <p:nvPicPr>
          <p:cNvPr id="7" name="Picture 6">
            <a:extLst>
              <a:ext uri="{FF2B5EF4-FFF2-40B4-BE49-F238E27FC236}">
                <a16:creationId xmlns:a16="http://schemas.microsoft.com/office/drawing/2014/main" id="{8A4791E2-5F09-456C-BB9F-63C97DF83C60}"/>
              </a:ext>
            </a:extLst>
          </p:cNvPr>
          <p:cNvPicPr>
            <a:picLocks noChangeAspect="1"/>
          </p:cNvPicPr>
          <p:nvPr/>
        </p:nvPicPr>
        <p:blipFill>
          <a:blip r:embed="rId3"/>
          <a:stretch>
            <a:fillRect/>
          </a:stretch>
        </p:blipFill>
        <p:spPr>
          <a:xfrm>
            <a:off x="729127" y="2410980"/>
            <a:ext cx="7685746" cy="3538538"/>
          </a:xfrm>
          <a:prstGeom prst="rect">
            <a:avLst/>
          </a:prstGeom>
          <a:ln>
            <a:solidFill>
              <a:schemeClr val="accent1"/>
            </a:solidFill>
          </a:ln>
        </p:spPr>
      </p:pic>
    </p:spTree>
    <p:extLst>
      <p:ext uri="{BB962C8B-B14F-4D97-AF65-F5344CB8AC3E}">
        <p14:creationId xmlns:p14="http://schemas.microsoft.com/office/powerpoint/2010/main" val="1317663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a:t>Implementation</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22</a:t>
            </a:fld>
            <a:endParaRPr lang="en-US"/>
          </a:p>
        </p:txBody>
      </p:sp>
      <p:sp>
        <p:nvSpPr>
          <p:cNvPr id="17" name="Content Placeholder 9">
            <a:extLst>
              <a:ext uri="{FF2B5EF4-FFF2-40B4-BE49-F238E27FC236}">
                <a16:creationId xmlns:a16="http://schemas.microsoft.com/office/drawing/2014/main" id="{374965CE-51DA-4A63-BCB6-21F5BDE936E3}"/>
              </a:ext>
            </a:extLst>
          </p:cNvPr>
          <p:cNvSpPr txBox="1">
            <a:spLocks/>
          </p:cNvSpPr>
          <p:nvPr/>
        </p:nvSpPr>
        <p:spPr>
          <a:xfrm>
            <a:off x="1295400" y="1676400"/>
            <a:ext cx="6553200" cy="713798"/>
          </a:xfrm>
          <a:prstGeom prst="rect">
            <a:avLst/>
          </a:prstGeom>
        </p:spPr>
        <p:txBody>
          <a:bodyPr vert="horz" lIns="0" tIns="45720" rIns="91440" bIns="45720" rtlCol="0">
            <a:normAutofit/>
          </a:bodyPr>
          <a:lstStyle>
            <a:lvl1pPr marL="342900" indent="-342900" algn="l" defTabSz="457200" rtl="0" eaLnBrk="1" latinLnBrk="0" hangingPunct="1">
              <a:spcBef>
                <a:spcPct val="20000"/>
              </a:spcBef>
              <a:buFont typeface="Arial"/>
              <a:buChar char="•"/>
              <a:defRPr sz="2800" b="0" i="0" kern="1200">
                <a:solidFill>
                  <a:srgbClr val="002B5C"/>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002B5C"/>
                </a:solidFill>
                <a:latin typeface="Georgia"/>
                <a:ea typeface="+mn-ea"/>
                <a:cs typeface="Georgia"/>
              </a:defRPr>
            </a:lvl2pPr>
            <a:lvl3pPr marL="1143000" indent="-228600" algn="l" defTabSz="457200" rtl="0" eaLnBrk="1" latinLnBrk="0" hangingPunct="1">
              <a:spcBef>
                <a:spcPct val="20000"/>
              </a:spcBef>
              <a:buFont typeface="Arial"/>
              <a:buChar char="•"/>
              <a:defRPr sz="1800" b="0" i="0" kern="1200">
                <a:solidFill>
                  <a:srgbClr val="002B5C"/>
                </a:solidFill>
                <a:latin typeface="Arial"/>
                <a:ea typeface="+mn-ea"/>
                <a:cs typeface="Arial"/>
              </a:defRPr>
            </a:lvl3pPr>
            <a:lvl4pPr marL="1600200" indent="-228600" algn="l" defTabSz="457200" rtl="0" eaLnBrk="1" latinLnBrk="0" hangingPunct="1">
              <a:spcBef>
                <a:spcPct val="20000"/>
              </a:spcBef>
              <a:buFont typeface="Arial"/>
              <a:buChar char="–"/>
              <a:defRPr sz="1400" b="0" i="0" kern="1200">
                <a:solidFill>
                  <a:srgbClr val="002B5C"/>
                </a:solidFill>
                <a:latin typeface="Georgia"/>
                <a:ea typeface="+mn-ea"/>
                <a:cs typeface="Georgia"/>
              </a:defRPr>
            </a:lvl4pPr>
            <a:lvl5pPr marL="2057400" indent="-228600" algn="l" defTabSz="457200" rtl="0" eaLnBrk="1" latinLnBrk="0" hangingPunct="1">
              <a:spcBef>
                <a:spcPct val="20000"/>
              </a:spcBef>
              <a:buFont typeface="Arial"/>
              <a:buChar char="»"/>
              <a:defRPr sz="1200" b="0" i="0" kern="1200">
                <a:solidFill>
                  <a:srgbClr val="002B5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400" dirty="0"/>
              <a:t>Luckily we don’t have to do the math ourselves!</a:t>
            </a:r>
          </a:p>
        </p:txBody>
      </p:sp>
      <p:sp>
        <p:nvSpPr>
          <p:cNvPr id="10" name="Title 1">
            <a:extLst>
              <a:ext uri="{FF2B5EF4-FFF2-40B4-BE49-F238E27FC236}">
                <a16:creationId xmlns:a16="http://schemas.microsoft.com/office/drawing/2014/main" id="{6A6023BF-7644-475B-AAC0-382CC680AD3C}"/>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DFBETA</a:t>
            </a:r>
          </a:p>
        </p:txBody>
      </p:sp>
      <p:pic>
        <p:nvPicPr>
          <p:cNvPr id="5" name="Picture 4">
            <a:extLst>
              <a:ext uri="{FF2B5EF4-FFF2-40B4-BE49-F238E27FC236}">
                <a16:creationId xmlns:a16="http://schemas.microsoft.com/office/drawing/2014/main" id="{B3B80B15-D856-4449-892A-D02A763E5D0F}"/>
              </a:ext>
            </a:extLst>
          </p:cNvPr>
          <p:cNvPicPr>
            <a:picLocks noChangeAspect="1"/>
          </p:cNvPicPr>
          <p:nvPr/>
        </p:nvPicPr>
        <p:blipFill>
          <a:blip r:embed="rId3"/>
          <a:stretch>
            <a:fillRect/>
          </a:stretch>
        </p:blipFill>
        <p:spPr>
          <a:xfrm>
            <a:off x="1321000" y="2971800"/>
            <a:ext cx="6502000" cy="1905578"/>
          </a:xfrm>
          <a:prstGeom prst="rect">
            <a:avLst/>
          </a:prstGeom>
        </p:spPr>
      </p:pic>
    </p:spTree>
    <p:extLst>
      <p:ext uri="{BB962C8B-B14F-4D97-AF65-F5344CB8AC3E}">
        <p14:creationId xmlns:p14="http://schemas.microsoft.com/office/powerpoint/2010/main" val="2791897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23</a:t>
            </a:fld>
            <a:endParaRPr lang="en-US"/>
          </a:p>
        </p:txBody>
      </p:sp>
      <p:sp>
        <p:nvSpPr>
          <p:cNvPr id="6" name="Title 1">
            <a:extLst>
              <a:ext uri="{FF2B5EF4-FFF2-40B4-BE49-F238E27FC236}">
                <a16:creationId xmlns:a16="http://schemas.microsoft.com/office/drawing/2014/main" id="{846B6ED4-FF3E-41A0-BF8B-E8078567F762}"/>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Conclusions</a:t>
            </a:r>
          </a:p>
        </p:txBody>
      </p:sp>
      <p:sp>
        <p:nvSpPr>
          <p:cNvPr id="10" name="Content Placeholder 9">
            <a:extLst>
              <a:ext uri="{FF2B5EF4-FFF2-40B4-BE49-F238E27FC236}">
                <a16:creationId xmlns:a16="http://schemas.microsoft.com/office/drawing/2014/main" id="{261B6347-B1EE-4960-86F6-C2955E49146E}"/>
              </a:ext>
            </a:extLst>
          </p:cNvPr>
          <p:cNvSpPr>
            <a:spLocks noGrp="1"/>
          </p:cNvSpPr>
          <p:nvPr>
            <p:ph idx="1"/>
          </p:nvPr>
        </p:nvSpPr>
        <p:spPr>
          <a:xfrm>
            <a:off x="685800" y="1828800"/>
            <a:ext cx="7696200" cy="4648200"/>
          </a:xfrm>
        </p:spPr>
        <p:txBody>
          <a:bodyPr>
            <a:normAutofit/>
          </a:bodyPr>
          <a:lstStyle/>
          <a:p>
            <a:r>
              <a:rPr lang="en-US" dirty="0"/>
              <a:t>Leverage</a:t>
            </a:r>
          </a:p>
          <a:p>
            <a:pPr lvl="1"/>
            <a:r>
              <a:rPr lang="en-US" dirty="0">
                <a:latin typeface="Georgia" panose="02040502050405020303" pitchFamily="18" charset="0"/>
                <a:cs typeface="Arial" panose="020B0604020202020204" pitchFamily="34" charset="0"/>
              </a:rPr>
              <a:t>How far away is a given point from the cluster of typical data? (Because this changes its influence.)</a:t>
            </a:r>
            <a:endParaRPr lang="en-US" dirty="0"/>
          </a:p>
          <a:p>
            <a:r>
              <a:rPr lang="en-US" dirty="0"/>
              <a:t>Cook’s Distance</a:t>
            </a:r>
          </a:p>
          <a:p>
            <a:pPr lvl="1"/>
            <a:r>
              <a:rPr lang="en-US" dirty="0"/>
              <a:t>How influential is the inclusion of a single point on the overall model (specifically its predictions).</a:t>
            </a:r>
          </a:p>
          <a:p>
            <a:r>
              <a:rPr lang="en-US" dirty="0"/>
              <a:t>DFBETA(S)</a:t>
            </a:r>
          </a:p>
          <a:p>
            <a:pPr lvl="1"/>
            <a:r>
              <a:rPr lang="en-US" dirty="0"/>
              <a:t>How influential is a single observation to a single parameter estimate?</a:t>
            </a:r>
          </a:p>
        </p:txBody>
      </p:sp>
      <p:sp>
        <p:nvSpPr>
          <p:cNvPr id="11" name="Content Placeholder 9">
            <a:extLst>
              <a:ext uri="{FF2B5EF4-FFF2-40B4-BE49-F238E27FC236}">
                <a16:creationId xmlns:a16="http://schemas.microsoft.com/office/drawing/2014/main" id="{E221714F-B29B-4380-A84E-547680809E6A}"/>
              </a:ext>
            </a:extLst>
          </p:cNvPr>
          <p:cNvSpPr txBox="1">
            <a:spLocks/>
          </p:cNvSpPr>
          <p:nvPr/>
        </p:nvSpPr>
        <p:spPr>
          <a:xfrm>
            <a:off x="685800" y="914400"/>
            <a:ext cx="7734300" cy="1066799"/>
          </a:xfrm>
          <a:prstGeom prst="rect">
            <a:avLst/>
          </a:prstGeom>
        </p:spPr>
        <p:txBody>
          <a:bodyPr vert="horz" lIns="0" tIns="45720" rIns="91440" bIns="45720" rtlCol="0">
            <a:normAutofit/>
          </a:bodyPr>
          <a:lstStyle>
            <a:lvl1pPr marL="342900" indent="-342900" algn="l" defTabSz="457200" rtl="0" eaLnBrk="1" latinLnBrk="0" hangingPunct="1">
              <a:spcBef>
                <a:spcPct val="20000"/>
              </a:spcBef>
              <a:buFont typeface="Arial"/>
              <a:buChar char="•"/>
              <a:defRPr sz="2800" b="0" i="0" kern="1200">
                <a:solidFill>
                  <a:srgbClr val="002B5C"/>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002B5C"/>
                </a:solidFill>
                <a:latin typeface="Georgia"/>
                <a:ea typeface="+mn-ea"/>
                <a:cs typeface="Georgia"/>
              </a:defRPr>
            </a:lvl2pPr>
            <a:lvl3pPr marL="1143000" indent="-228600" algn="l" defTabSz="457200" rtl="0" eaLnBrk="1" latinLnBrk="0" hangingPunct="1">
              <a:spcBef>
                <a:spcPct val="20000"/>
              </a:spcBef>
              <a:buFont typeface="Arial"/>
              <a:buChar char="•"/>
              <a:defRPr sz="1800" b="0" i="0" kern="1200">
                <a:solidFill>
                  <a:srgbClr val="002B5C"/>
                </a:solidFill>
                <a:latin typeface="Arial"/>
                <a:ea typeface="+mn-ea"/>
                <a:cs typeface="Arial"/>
              </a:defRPr>
            </a:lvl3pPr>
            <a:lvl4pPr marL="1600200" indent="-228600" algn="l" defTabSz="457200" rtl="0" eaLnBrk="1" latinLnBrk="0" hangingPunct="1">
              <a:spcBef>
                <a:spcPct val="20000"/>
              </a:spcBef>
              <a:buFont typeface="Arial"/>
              <a:buChar char="–"/>
              <a:defRPr sz="1400" b="0" i="0" kern="1200">
                <a:solidFill>
                  <a:srgbClr val="002B5C"/>
                </a:solidFill>
                <a:latin typeface="Georgia"/>
                <a:ea typeface="+mn-ea"/>
                <a:cs typeface="Georgia"/>
              </a:defRPr>
            </a:lvl4pPr>
            <a:lvl5pPr marL="2057400" indent="-228600" algn="l" defTabSz="457200" rtl="0" eaLnBrk="1" latinLnBrk="0" hangingPunct="1">
              <a:spcBef>
                <a:spcPct val="20000"/>
              </a:spcBef>
              <a:buFont typeface="Arial"/>
              <a:buChar char="»"/>
              <a:defRPr sz="1200" b="0" i="0" kern="1200">
                <a:solidFill>
                  <a:srgbClr val="002B5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i="1" dirty="0"/>
              <a:t>What sort of techniques have we covered</a:t>
            </a:r>
            <a:endParaRPr lang="en-US" dirty="0"/>
          </a:p>
        </p:txBody>
      </p:sp>
    </p:spTree>
    <p:extLst>
      <p:ext uri="{BB962C8B-B14F-4D97-AF65-F5344CB8AC3E}">
        <p14:creationId xmlns:p14="http://schemas.microsoft.com/office/powerpoint/2010/main" val="1107231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24</a:t>
            </a:fld>
            <a:endParaRPr lang="en-US"/>
          </a:p>
        </p:txBody>
      </p:sp>
      <p:sp>
        <p:nvSpPr>
          <p:cNvPr id="6" name="Title 1">
            <a:extLst>
              <a:ext uri="{FF2B5EF4-FFF2-40B4-BE49-F238E27FC236}">
                <a16:creationId xmlns:a16="http://schemas.microsoft.com/office/drawing/2014/main" id="{846B6ED4-FF3E-41A0-BF8B-E8078567F762}"/>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Conclusions</a:t>
            </a:r>
          </a:p>
        </p:txBody>
      </p:sp>
      <p:sp>
        <p:nvSpPr>
          <p:cNvPr id="10" name="Content Placeholder 9">
            <a:extLst>
              <a:ext uri="{FF2B5EF4-FFF2-40B4-BE49-F238E27FC236}">
                <a16:creationId xmlns:a16="http://schemas.microsoft.com/office/drawing/2014/main" id="{261B6347-B1EE-4960-86F6-C2955E49146E}"/>
              </a:ext>
            </a:extLst>
          </p:cNvPr>
          <p:cNvSpPr>
            <a:spLocks noGrp="1"/>
          </p:cNvSpPr>
          <p:nvPr>
            <p:ph idx="1"/>
          </p:nvPr>
        </p:nvSpPr>
        <p:spPr>
          <a:xfrm>
            <a:off x="685800" y="2133600"/>
            <a:ext cx="7696200" cy="4343400"/>
          </a:xfrm>
        </p:spPr>
        <p:txBody>
          <a:bodyPr>
            <a:normAutofit/>
          </a:bodyPr>
          <a:lstStyle/>
          <a:p>
            <a:r>
              <a:rPr lang="en-US" dirty="0"/>
              <a:t>Deletion</a:t>
            </a:r>
          </a:p>
          <a:p>
            <a:pPr lvl="1"/>
            <a:r>
              <a:rPr lang="en-US" dirty="0">
                <a:latin typeface="Georgia" panose="02040502050405020303" pitchFamily="18" charset="0"/>
                <a:cs typeface="Arial" panose="020B0604020202020204" pitchFamily="34" charset="0"/>
              </a:rPr>
              <a:t>Never to</a:t>
            </a:r>
            <a:r>
              <a:rPr lang="en-US" dirty="0"/>
              <a:t>o be taken lightly. Best in cases where data is actually incorrect in some way.</a:t>
            </a:r>
          </a:p>
          <a:p>
            <a:r>
              <a:rPr lang="en-US" dirty="0"/>
              <a:t>Alter the Model</a:t>
            </a:r>
          </a:p>
          <a:p>
            <a:pPr lvl="1"/>
            <a:r>
              <a:rPr lang="en-US" dirty="0"/>
              <a:t>It’s possible we are making incorrect assumptions about the underlying pattern. Maybe a spline would be more accurate?</a:t>
            </a:r>
          </a:p>
          <a:p>
            <a:r>
              <a:rPr lang="en-US" dirty="0"/>
              <a:t>Robust Linear Regression</a:t>
            </a:r>
          </a:p>
          <a:p>
            <a:pPr lvl="1"/>
            <a:r>
              <a:rPr lang="en-US" dirty="0"/>
              <a:t>Modification to the OLS approach using a modified loss function to smooth loss contribution.</a:t>
            </a:r>
          </a:p>
        </p:txBody>
      </p:sp>
      <p:sp>
        <p:nvSpPr>
          <p:cNvPr id="11" name="Content Placeholder 9">
            <a:extLst>
              <a:ext uri="{FF2B5EF4-FFF2-40B4-BE49-F238E27FC236}">
                <a16:creationId xmlns:a16="http://schemas.microsoft.com/office/drawing/2014/main" id="{E221714F-B29B-4380-A84E-547680809E6A}"/>
              </a:ext>
            </a:extLst>
          </p:cNvPr>
          <p:cNvSpPr txBox="1">
            <a:spLocks/>
          </p:cNvSpPr>
          <p:nvPr/>
        </p:nvSpPr>
        <p:spPr>
          <a:xfrm>
            <a:off x="685800" y="914400"/>
            <a:ext cx="7734300" cy="1066799"/>
          </a:xfrm>
          <a:prstGeom prst="rect">
            <a:avLst/>
          </a:prstGeom>
        </p:spPr>
        <p:txBody>
          <a:bodyPr vert="horz" lIns="0" tIns="45720" rIns="91440" bIns="45720" rtlCol="0">
            <a:normAutofit/>
          </a:bodyPr>
          <a:lstStyle>
            <a:lvl1pPr marL="342900" indent="-342900" algn="l" defTabSz="457200" rtl="0" eaLnBrk="1" latinLnBrk="0" hangingPunct="1">
              <a:spcBef>
                <a:spcPct val="20000"/>
              </a:spcBef>
              <a:buFont typeface="Arial"/>
              <a:buChar char="•"/>
              <a:defRPr sz="2800" b="0" i="0" kern="1200">
                <a:solidFill>
                  <a:srgbClr val="002B5C"/>
                </a:solidFill>
                <a:latin typeface="Arial"/>
                <a:ea typeface="+mn-ea"/>
                <a:cs typeface="Arial"/>
              </a:defRPr>
            </a:lvl1pPr>
            <a:lvl2pPr marL="742950" indent="-285750" algn="l" defTabSz="457200" rtl="0" eaLnBrk="1" latinLnBrk="0" hangingPunct="1">
              <a:spcBef>
                <a:spcPct val="20000"/>
              </a:spcBef>
              <a:buFont typeface="Arial"/>
              <a:buChar char="–"/>
              <a:defRPr sz="2400" b="0" i="0" kern="1200">
                <a:solidFill>
                  <a:srgbClr val="002B5C"/>
                </a:solidFill>
                <a:latin typeface="Georgia"/>
                <a:ea typeface="+mn-ea"/>
                <a:cs typeface="Georgia"/>
              </a:defRPr>
            </a:lvl2pPr>
            <a:lvl3pPr marL="1143000" indent="-228600" algn="l" defTabSz="457200" rtl="0" eaLnBrk="1" latinLnBrk="0" hangingPunct="1">
              <a:spcBef>
                <a:spcPct val="20000"/>
              </a:spcBef>
              <a:buFont typeface="Arial"/>
              <a:buChar char="•"/>
              <a:defRPr sz="1800" b="0" i="0" kern="1200">
                <a:solidFill>
                  <a:srgbClr val="002B5C"/>
                </a:solidFill>
                <a:latin typeface="Arial"/>
                <a:ea typeface="+mn-ea"/>
                <a:cs typeface="Arial"/>
              </a:defRPr>
            </a:lvl3pPr>
            <a:lvl4pPr marL="1600200" indent="-228600" algn="l" defTabSz="457200" rtl="0" eaLnBrk="1" latinLnBrk="0" hangingPunct="1">
              <a:spcBef>
                <a:spcPct val="20000"/>
              </a:spcBef>
              <a:buFont typeface="Arial"/>
              <a:buChar char="–"/>
              <a:defRPr sz="1400" b="0" i="0" kern="1200">
                <a:solidFill>
                  <a:srgbClr val="002B5C"/>
                </a:solidFill>
                <a:latin typeface="Georgia"/>
                <a:ea typeface="+mn-ea"/>
                <a:cs typeface="Georgia"/>
              </a:defRPr>
            </a:lvl4pPr>
            <a:lvl5pPr marL="2057400" indent="-228600" algn="l" defTabSz="457200" rtl="0" eaLnBrk="1" latinLnBrk="0" hangingPunct="1">
              <a:spcBef>
                <a:spcPct val="20000"/>
              </a:spcBef>
              <a:buFont typeface="Arial"/>
              <a:buChar char="»"/>
              <a:defRPr sz="1200" b="0" i="0" kern="1200">
                <a:solidFill>
                  <a:srgbClr val="002B5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i="1" dirty="0"/>
              <a:t>Okay, so these potential influential points are identified. Now what do we do</a:t>
            </a:r>
            <a:r>
              <a:rPr lang="en-US" dirty="0"/>
              <a:t>?</a:t>
            </a:r>
          </a:p>
        </p:txBody>
      </p:sp>
    </p:spTree>
    <p:extLst>
      <p:ext uri="{BB962C8B-B14F-4D97-AF65-F5344CB8AC3E}">
        <p14:creationId xmlns:p14="http://schemas.microsoft.com/office/powerpoint/2010/main" val="7209197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9853-9A97-9A43-87DE-CEAD22A0A700}"/>
              </a:ext>
            </a:extLst>
          </p:cNvPr>
          <p:cNvSpPr>
            <a:spLocks noGrp="1"/>
          </p:cNvSpPr>
          <p:nvPr>
            <p:ph type="title"/>
          </p:nvPr>
        </p:nvSpPr>
        <p:spPr>
          <a:xfrm>
            <a:off x="762000" y="762000"/>
            <a:ext cx="7620000" cy="808038"/>
          </a:xfrm>
        </p:spPr>
        <p:txBody>
          <a:bodyPr>
            <a:normAutofit/>
          </a:bodyPr>
          <a:lstStyle/>
          <a:p>
            <a:r>
              <a:rPr lang="en-US" sz="2700" dirty="0"/>
              <a:t>What did ND learn?</a:t>
            </a:r>
            <a:endParaRPr lang="en-US" dirty="0"/>
          </a:p>
        </p:txBody>
      </p:sp>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25</a:t>
            </a:fld>
            <a:endParaRPr lang="en-US"/>
          </a:p>
        </p:txBody>
      </p:sp>
      <p:sp>
        <p:nvSpPr>
          <p:cNvPr id="10" name="Content Placeholder 9">
            <a:extLst>
              <a:ext uri="{FF2B5EF4-FFF2-40B4-BE49-F238E27FC236}">
                <a16:creationId xmlns:a16="http://schemas.microsoft.com/office/drawing/2014/main" id="{261B6347-B1EE-4960-86F6-C2955E49146E}"/>
              </a:ext>
            </a:extLst>
          </p:cNvPr>
          <p:cNvSpPr>
            <a:spLocks noGrp="1"/>
          </p:cNvSpPr>
          <p:nvPr>
            <p:ph idx="1"/>
          </p:nvPr>
        </p:nvSpPr>
        <p:spPr>
          <a:xfrm>
            <a:off x="685800" y="1570038"/>
            <a:ext cx="7696200" cy="4906962"/>
          </a:xfrm>
        </p:spPr>
        <p:txBody>
          <a:bodyPr>
            <a:normAutofit lnSpcReduction="10000"/>
          </a:bodyPr>
          <a:lstStyle/>
          <a:p>
            <a:r>
              <a:rPr lang="en-US" dirty="0"/>
              <a:t>There are many ways to assess “influence” and define outliers.</a:t>
            </a:r>
          </a:p>
          <a:p>
            <a:r>
              <a:rPr lang="en-US" dirty="0"/>
              <a:t>Utilizing the three notions defined here, we were able to rebuild models excluding theses points to determine their impact on our equity analyses.</a:t>
            </a:r>
          </a:p>
          <a:p>
            <a:r>
              <a:rPr lang="en-US" dirty="0"/>
              <a:t>Fortunately our conclusions regarding equity hold true, even when removing highly influential points.</a:t>
            </a:r>
          </a:p>
          <a:p>
            <a:r>
              <a:rPr lang="en-US" i="1" dirty="0"/>
              <a:t>A</a:t>
            </a:r>
            <a:r>
              <a:rPr lang="en-US" dirty="0"/>
              <a:t>ll this work and more is done by the </a:t>
            </a:r>
            <a:r>
              <a:rPr lang="en-US" i="1" dirty="0" err="1">
                <a:solidFill>
                  <a:srgbClr val="FF0000"/>
                </a:solidFill>
              </a:rPr>
              <a:t>Influence.measures</a:t>
            </a:r>
            <a:r>
              <a:rPr lang="en-US" i="1" dirty="0"/>
              <a:t> function</a:t>
            </a:r>
            <a:r>
              <a:rPr lang="en-US" dirty="0"/>
              <a:t>!</a:t>
            </a:r>
          </a:p>
        </p:txBody>
      </p:sp>
      <p:sp>
        <p:nvSpPr>
          <p:cNvPr id="7" name="Title 1">
            <a:extLst>
              <a:ext uri="{FF2B5EF4-FFF2-40B4-BE49-F238E27FC236}">
                <a16:creationId xmlns:a16="http://schemas.microsoft.com/office/drawing/2014/main" id="{9A117097-26EC-440E-82F6-A826A7A8A6F7}"/>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Conclusions</a:t>
            </a:r>
          </a:p>
        </p:txBody>
      </p:sp>
    </p:spTree>
    <p:extLst>
      <p:ext uri="{BB962C8B-B14F-4D97-AF65-F5344CB8AC3E}">
        <p14:creationId xmlns:p14="http://schemas.microsoft.com/office/powerpoint/2010/main" val="29831290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67AE87-A6A5-40A5-802B-BDD2CA51017D}"/>
              </a:ext>
            </a:extLst>
          </p:cNvPr>
          <p:cNvSpPr>
            <a:spLocks noGrp="1"/>
          </p:cNvSpPr>
          <p:nvPr>
            <p:ph type="sldNum" sz="quarter" idx="10"/>
          </p:nvPr>
        </p:nvSpPr>
        <p:spPr>
          <a:xfrm>
            <a:off x="8305800" y="6569075"/>
            <a:ext cx="838200" cy="288925"/>
          </a:xfrm>
          <a:prstGeom prst="rect">
            <a:avLst/>
          </a:prstGeom>
        </p:spPr>
        <p:txBody>
          <a:bodyPr/>
          <a:lstStyle/>
          <a:p>
            <a:fld id="{2316F499-F3F1-4BF2-9375-8E5A273B86B8}" type="slidenum">
              <a:rPr lang="en-US" smtClean="0"/>
              <a:t>26</a:t>
            </a:fld>
            <a:endParaRPr lang="en-US"/>
          </a:p>
        </p:txBody>
      </p:sp>
      <p:sp>
        <p:nvSpPr>
          <p:cNvPr id="7" name="Title 1">
            <a:extLst>
              <a:ext uri="{FF2B5EF4-FFF2-40B4-BE49-F238E27FC236}">
                <a16:creationId xmlns:a16="http://schemas.microsoft.com/office/drawing/2014/main" id="{9A117097-26EC-440E-82F6-A826A7A8A6F7}"/>
              </a:ext>
            </a:extLst>
          </p:cNvPr>
          <p:cNvSpPr txBox="1">
            <a:spLocks/>
          </p:cNvSpPr>
          <p:nvPr/>
        </p:nvSpPr>
        <p:spPr>
          <a:xfrm>
            <a:off x="2667000" y="152401"/>
            <a:ext cx="6324600" cy="438150"/>
          </a:xfrm>
          <a:prstGeom prst="rect">
            <a:avLst/>
          </a:prstGeom>
        </p:spPr>
        <p:txBody>
          <a:bodyPr vert="horz" lIns="0" tIns="45720" rIns="91440" bIns="45720" rtlCol="0" anchor="t" anchorCtr="0">
            <a:normAutofit/>
          </a:bodyPr>
          <a:lstStyle>
            <a:lvl1pPr algn="l" defTabSz="457200" rtl="0" eaLnBrk="1" latinLnBrk="0" hangingPunct="1">
              <a:spcBef>
                <a:spcPct val="0"/>
              </a:spcBef>
              <a:buNone/>
              <a:defRPr sz="2000" b="1" i="0" kern="1200">
                <a:solidFill>
                  <a:srgbClr val="002B5C"/>
                </a:solidFill>
                <a:latin typeface="Georgia"/>
                <a:ea typeface="+mj-ea"/>
                <a:cs typeface="Georgia"/>
              </a:defRPr>
            </a:lvl1pPr>
          </a:lstStyle>
          <a:p>
            <a:pPr algn="r"/>
            <a:r>
              <a:rPr lang="en-US" dirty="0"/>
              <a:t>References</a:t>
            </a:r>
          </a:p>
        </p:txBody>
      </p:sp>
      <p:pic>
        <p:nvPicPr>
          <p:cNvPr id="11" name="Picture 10">
            <a:extLst>
              <a:ext uri="{FF2B5EF4-FFF2-40B4-BE49-F238E27FC236}">
                <a16:creationId xmlns:a16="http://schemas.microsoft.com/office/drawing/2014/main" id="{9133B700-9B89-49E1-B68C-2F9253168059}"/>
              </a:ext>
            </a:extLst>
          </p:cNvPr>
          <p:cNvPicPr>
            <a:picLocks noChangeAspect="1"/>
          </p:cNvPicPr>
          <p:nvPr/>
        </p:nvPicPr>
        <p:blipFill>
          <a:blip r:embed="rId3"/>
          <a:stretch>
            <a:fillRect/>
          </a:stretch>
        </p:blipFill>
        <p:spPr>
          <a:xfrm>
            <a:off x="388012" y="1004455"/>
            <a:ext cx="8367975" cy="5375290"/>
          </a:xfrm>
          <a:prstGeom prst="rect">
            <a:avLst/>
          </a:prstGeom>
        </p:spPr>
      </p:pic>
    </p:spTree>
    <p:extLst>
      <p:ext uri="{BB962C8B-B14F-4D97-AF65-F5344CB8AC3E}">
        <p14:creationId xmlns:p14="http://schemas.microsoft.com/office/powerpoint/2010/main" val="812002762"/>
      </p:ext>
    </p:extLst>
  </p:cSld>
  <p:clrMapOvr>
    <a:masterClrMapping/>
  </p:clrMapOvr>
</p:sld>
</file>

<file path=ppt/theme/theme1.xml><?xml version="1.0" encoding="utf-8"?>
<a:theme xmlns:a="http://schemas.openxmlformats.org/drawingml/2006/main" name="Template_5_Arts&amp;Letter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Template_5_Arts&amp;Letters.thmx</Template>
  <TotalTime>9267</TotalTime>
  <Words>2046</Words>
  <Application>Microsoft Office PowerPoint</Application>
  <PresentationFormat>On-screen Show (4:3)</PresentationFormat>
  <Paragraphs>207</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Georgia</vt:lpstr>
      <vt:lpstr>Template_5_Arts&amp;Letters</vt:lpstr>
      <vt:lpstr>Regression Diagnostics for Salary Equity Modeling</vt:lpstr>
      <vt:lpstr>The Motivation</vt:lpstr>
      <vt:lpstr>A Quick Review</vt:lpstr>
      <vt:lpstr>A Quick Review</vt:lpstr>
      <vt:lpstr>A Quick Review</vt:lpstr>
      <vt:lpstr>A Quick Review</vt:lpstr>
      <vt:lpstr>The Model(s)</vt:lpstr>
      <vt:lpstr>The Model(s)</vt:lpstr>
      <vt:lpstr>The Motivation</vt:lpstr>
      <vt:lpstr>More Review</vt:lpstr>
      <vt:lpstr>Visual Intuition</vt:lpstr>
      <vt:lpstr>Mathy Intuition</vt:lpstr>
      <vt:lpstr>Implementation</vt:lpstr>
      <vt:lpstr>Implementation</vt:lpstr>
      <vt:lpstr>Studentized Residuals</vt:lpstr>
      <vt:lpstr>Visual Intuition</vt:lpstr>
      <vt:lpstr>Implementation</vt:lpstr>
      <vt:lpstr>Implementation</vt:lpstr>
      <vt:lpstr>Visual Intuition</vt:lpstr>
      <vt:lpstr>Implementation</vt:lpstr>
      <vt:lpstr>Implementation</vt:lpstr>
      <vt:lpstr>Implementation</vt:lpstr>
      <vt:lpstr>PowerPoint Presentation</vt:lpstr>
      <vt:lpstr>PowerPoint Presentation</vt:lpstr>
      <vt:lpstr>What did ND learn?</vt:lpstr>
      <vt:lpstr>PowerPoint Presentation</vt:lpstr>
    </vt:vector>
  </TitlesOfParts>
  <Company>Notre Dame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EastMac</dc:creator>
  <cp:lastModifiedBy>Steven VanDenDriessche</cp:lastModifiedBy>
  <cp:revision>303</cp:revision>
  <cp:lastPrinted>2011-06-14T19:17:44Z</cp:lastPrinted>
  <dcterms:created xsi:type="dcterms:W3CDTF">2011-06-14T19:11:52Z</dcterms:created>
  <dcterms:modified xsi:type="dcterms:W3CDTF">2022-03-24T19:17:37Z</dcterms:modified>
</cp:coreProperties>
</file>